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embeddedFontLst>
    <p:embeddedFont>
      <p:font typeface="Nunito"/>
      <p:regular r:id="rId29"/>
      <p:bold r:id="rId30"/>
      <p:italic r:id="rId31"/>
      <p:boldItalic r:id="rId32"/>
    </p:embeddedFont>
    <p:embeddedFont>
      <p:font typeface="Maven Pro"/>
      <p:regular r:id="rId33"/>
      <p:bold r:id="rId34"/>
    </p:embeddedFont>
    <p:embeddedFont>
      <p:font typeface="Comfortaa"/>
      <p:regular r:id="rId35"/>
      <p:bold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5203369-A9CA-4BB3-8692-D509357BDCD9}">
  <a:tblStyle styleId="{A5203369-A9CA-4BB3-8692-D509357BDCD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Nunito-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Nunito-italic.fntdata"/><Relationship Id="rId30" Type="http://schemas.openxmlformats.org/officeDocument/2006/relationships/font" Target="fonts/Nunito-bold.fntdata"/><Relationship Id="rId11" Type="http://schemas.openxmlformats.org/officeDocument/2006/relationships/slide" Target="slides/slide5.xml"/><Relationship Id="rId33" Type="http://schemas.openxmlformats.org/officeDocument/2006/relationships/font" Target="fonts/MavenPro-regular.fntdata"/><Relationship Id="rId10" Type="http://schemas.openxmlformats.org/officeDocument/2006/relationships/slide" Target="slides/slide4.xml"/><Relationship Id="rId32" Type="http://schemas.openxmlformats.org/officeDocument/2006/relationships/font" Target="fonts/Nunito-boldItalic.fntdata"/><Relationship Id="rId13" Type="http://schemas.openxmlformats.org/officeDocument/2006/relationships/slide" Target="slides/slide7.xml"/><Relationship Id="rId35" Type="http://schemas.openxmlformats.org/officeDocument/2006/relationships/font" Target="fonts/Comfortaa-regular.fntdata"/><Relationship Id="rId12" Type="http://schemas.openxmlformats.org/officeDocument/2006/relationships/slide" Target="slides/slide6.xml"/><Relationship Id="rId34" Type="http://schemas.openxmlformats.org/officeDocument/2006/relationships/font" Target="fonts/MavenPro-bold.fntdata"/><Relationship Id="rId15" Type="http://schemas.openxmlformats.org/officeDocument/2006/relationships/slide" Target="slides/slide9.xml"/><Relationship Id="rId14" Type="http://schemas.openxmlformats.org/officeDocument/2006/relationships/slide" Target="slides/slide8.xml"/><Relationship Id="rId36" Type="http://schemas.openxmlformats.org/officeDocument/2006/relationships/font" Target="fonts/Comfortaa-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9a6b48d6d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9a6b48d6d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9a77c6e749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9a77c6e749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9a6b48d6db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9a6b48d6db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9a77c6e749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9a77c6e749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9a77c6e749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9a77c6e749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9a6cdbb425_1_10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9a6cdbb425_1_10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9a6cdbb425_1_10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9a6cdbb425_1_10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9a77c6e749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9a77c6e749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9a6b48d6db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9a6b48d6db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9a77c6e749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9a77c6e749_1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9a6b48d6d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9a6b48d6d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9a7d025740_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9a7d025740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9a6b48d6d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9a6b48d6d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9a7d025740_2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39a7d025740_2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9a7d025740_2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9a7d025740_2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9a6b48d6db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9a6b48d6db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9a7d025740_2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39a7d025740_2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9a7d025740_2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9a7d025740_2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9a7d025740_2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9a7d025740_2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9a7d025740_2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9a7d025740_2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9a858db4cf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9a858db4c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5.png"/><Relationship Id="rId5" Type="http://schemas.openxmlformats.org/officeDocument/2006/relationships/image" Target="../media/image18.png"/><Relationship Id="rId6"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0.png"/><Relationship Id="rId4" Type="http://schemas.openxmlformats.org/officeDocument/2006/relationships/image" Target="../media/image12.png"/><Relationship Id="rId5" Type="http://schemas.openxmlformats.org/officeDocument/2006/relationships/image" Target="../media/image8.png"/><Relationship Id="rId6"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1.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231625" y="75100"/>
            <a:ext cx="48480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Trabajo Práctico N°4 Simulación</a:t>
            </a:r>
            <a:endParaRPr/>
          </a:p>
        </p:txBody>
      </p:sp>
      <p:sp>
        <p:nvSpPr>
          <p:cNvPr id="278" name="Google Shape;278;p13"/>
          <p:cNvSpPr txBox="1"/>
          <p:nvPr>
            <p:ph idx="1" type="subTitle"/>
          </p:nvPr>
        </p:nvSpPr>
        <p:spPr>
          <a:xfrm>
            <a:off x="347200" y="1868525"/>
            <a:ext cx="4255500" cy="2964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u="sng"/>
              <a:t>Integrantes:</a:t>
            </a:r>
            <a:endParaRPr u="sng"/>
          </a:p>
          <a:p>
            <a:pPr indent="-330200" lvl="0" marL="457200" rtl="0" algn="l">
              <a:spcBef>
                <a:spcPts val="0"/>
              </a:spcBef>
              <a:spcAft>
                <a:spcPts val="0"/>
              </a:spcAft>
              <a:buSzPts val="1600"/>
              <a:buChar char="●"/>
            </a:pPr>
            <a:r>
              <a:rPr lang="es"/>
              <a:t>Ignacio Castro Planas</a:t>
            </a:r>
            <a:endParaRPr/>
          </a:p>
          <a:p>
            <a:pPr indent="-330200" lvl="0" marL="457200" rtl="0" algn="l">
              <a:spcBef>
                <a:spcPts val="0"/>
              </a:spcBef>
              <a:spcAft>
                <a:spcPts val="0"/>
              </a:spcAft>
              <a:buSzPts val="1600"/>
              <a:buChar char="●"/>
            </a:pPr>
            <a:r>
              <a:rPr lang="es"/>
              <a:t>Ignacio Scarfo</a:t>
            </a:r>
            <a:endParaRPr/>
          </a:p>
          <a:p>
            <a:pPr indent="-330200" lvl="0" marL="457200" rtl="0" algn="l">
              <a:spcBef>
                <a:spcPts val="0"/>
              </a:spcBef>
              <a:spcAft>
                <a:spcPts val="0"/>
              </a:spcAft>
              <a:buSzPts val="1600"/>
              <a:buChar char="●"/>
            </a:pPr>
            <a:r>
              <a:rPr lang="es"/>
              <a:t>Santiago Nicolás Torres Franco</a:t>
            </a:r>
            <a:endParaRPr/>
          </a:p>
          <a:p>
            <a:pPr indent="-330200" lvl="0" marL="457200" rtl="0" algn="l">
              <a:spcBef>
                <a:spcPts val="0"/>
              </a:spcBef>
              <a:spcAft>
                <a:spcPts val="0"/>
              </a:spcAft>
              <a:buSzPts val="1600"/>
              <a:buChar char="●"/>
            </a:pPr>
            <a:r>
              <a:rPr lang="es"/>
              <a:t>Lucas Bogado</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Universidad Tecnológica Nacional,</a:t>
            </a:r>
            <a:endParaRPr/>
          </a:p>
          <a:p>
            <a:pPr indent="0" lvl="0" marL="0" rtl="0" algn="l">
              <a:spcBef>
                <a:spcPts val="0"/>
              </a:spcBef>
              <a:spcAft>
                <a:spcPts val="0"/>
              </a:spcAft>
              <a:buNone/>
            </a:pPr>
            <a:r>
              <a:rPr lang="es"/>
              <a:t>Facultad Regional Buenos Aires</a:t>
            </a:r>
            <a:endParaRPr/>
          </a:p>
          <a:p>
            <a:pPr indent="0" lvl="0" marL="0" rtl="0" algn="l">
              <a:spcBef>
                <a:spcPts val="0"/>
              </a:spcBef>
              <a:spcAft>
                <a:spcPts val="0"/>
              </a:spcAft>
              <a:buNone/>
            </a:pPr>
            <a:r>
              <a:t/>
            </a:r>
            <a:endParaRPr/>
          </a:p>
          <a:p>
            <a:pPr indent="0" lvl="0" marL="0" rtl="0" algn="l">
              <a:spcBef>
                <a:spcPts val="0"/>
              </a:spcBef>
              <a:spcAft>
                <a:spcPts val="0"/>
              </a:spcAft>
              <a:buNone/>
            </a:pPr>
            <a:r>
              <a:rPr lang="es" u="sng"/>
              <a:t>Comisión</a:t>
            </a:r>
            <a:r>
              <a:rPr lang="es"/>
              <a:t>: K4051</a:t>
            </a:r>
            <a:endParaRPr/>
          </a:p>
          <a:p>
            <a:pPr indent="0" lvl="0" marL="0" rtl="0" algn="l">
              <a:spcBef>
                <a:spcPts val="0"/>
              </a:spcBef>
              <a:spcAft>
                <a:spcPts val="0"/>
              </a:spcAft>
              <a:buNone/>
            </a:pPr>
            <a:r>
              <a:rPr lang="es" u="sng"/>
              <a:t>Profesora a cargo</a:t>
            </a:r>
            <a:r>
              <a:rPr lang="es"/>
              <a:t>: Ing. Erica Milin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pic>
        <p:nvPicPr>
          <p:cNvPr id="283" name="Google Shape;283;p14"/>
          <p:cNvPicPr preferRelativeResize="0"/>
          <p:nvPr/>
        </p:nvPicPr>
        <p:blipFill rotWithShape="1">
          <a:blip r:embed="rId3">
            <a:alphaModFix amt="5000"/>
          </a:blip>
          <a:srcRect b="0" l="0" r="43496" t="0"/>
          <a:stretch/>
        </p:blipFill>
        <p:spPr>
          <a:xfrm>
            <a:off x="0" y="-39525"/>
            <a:ext cx="9144000" cy="5143500"/>
          </a:xfrm>
          <a:prstGeom prst="rect">
            <a:avLst/>
          </a:prstGeom>
          <a:noFill/>
          <a:ln>
            <a:noFill/>
          </a:ln>
        </p:spPr>
      </p:pic>
      <p:sp>
        <p:nvSpPr>
          <p:cNvPr id="284" name="Google Shape;284;p14"/>
          <p:cNvSpPr txBox="1"/>
          <p:nvPr>
            <p:ph type="title"/>
          </p:nvPr>
        </p:nvSpPr>
        <p:spPr>
          <a:xfrm>
            <a:off x="262950" y="186475"/>
            <a:ext cx="8618100" cy="9993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sz="4467"/>
              <a:t>Presentación</a:t>
            </a:r>
            <a:r>
              <a:rPr lang="es" sz="4467"/>
              <a:t> del caso: Barbería </a:t>
            </a:r>
            <a:endParaRPr sz="4467"/>
          </a:p>
          <a:p>
            <a:pPr indent="0" lvl="0" marL="457200" rtl="0" algn="l">
              <a:spcBef>
                <a:spcPts val="0"/>
              </a:spcBef>
              <a:spcAft>
                <a:spcPts val="0"/>
              </a:spcAft>
              <a:buNone/>
            </a:pPr>
            <a:r>
              <a:t/>
            </a:r>
            <a:endParaRPr/>
          </a:p>
        </p:txBody>
      </p:sp>
      <p:sp>
        <p:nvSpPr>
          <p:cNvPr id="285" name="Google Shape;285;p14"/>
          <p:cNvSpPr txBox="1"/>
          <p:nvPr>
            <p:ph idx="1" type="body"/>
          </p:nvPr>
        </p:nvSpPr>
        <p:spPr>
          <a:xfrm>
            <a:off x="368250" y="3377525"/>
            <a:ext cx="8368200" cy="1299300"/>
          </a:xfrm>
          <a:prstGeom prst="rect">
            <a:avLst/>
          </a:prstGeom>
        </p:spPr>
        <p:txBody>
          <a:bodyPr anchorCtr="0" anchor="t" bIns="91425" lIns="91425" spcFirstLastPara="1" rIns="91425" wrap="square" tIns="91425">
            <a:noAutofit/>
          </a:bodyPr>
          <a:lstStyle/>
          <a:p>
            <a:pPr indent="0" lvl="0" marL="0" rtl="0" algn="just">
              <a:spcBef>
                <a:spcPts val="1200"/>
              </a:spcBef>
              <a:spcAft>
                <a:spcPts val="1200"/>
              </a:spcAft>
              <a:buSzPts val="358"/>
              <a:buNone/>
            </a:pPr>
            <a:r>
              <a:rPr lang="es" sz="1700"/>
              <a:t>Determinar la cantidad de barberos necesaria para mantener los tiempos de espera bajo el umbral de los 20 minutos, asegurando al mismo tiempo que el personal cuente con periodos de descanso adecuados para mantener un clima laboral óptimo, logrando así el beneficio máximo para el negocio.</a:t>
            </a:r>
            <a:endParaRPr sz="1700"/>
          </a:p>
        </p:txBody>
      </p:sp>
      <p:sp>
        <p:nvSpPr>
          <p:cNvPr id="286" name="Google Shape;286;p14"/>
          <p:cNvSpPr/>
          <p:nvPr/>
        </p:nvSpPr>
        <p:spPr>
          <a:xfrm>
            <a:off x="631650" y="944975"/>
            <a:ext cx="5024400" cy="566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sz="2000">
                <a:latin typeface="Nunito"/>
                <a:ea typeface="Nunito"/>
                <a:cs typeface="Nunito"/>
                <a:sym typeface="Nunito"/>
              </a:rPr>
              <a:t>Barbería en San Fernando, Buenos Aires.</a:t>
            </a:r>
            <a:endParaRPr sz="2000">
              <a:latin typeface="Nunito"/>
              <a:ea typeface="Nunito"/>
              <a:cs typeface="Nunito"/>
              <a:sym typeface="Nunito"/>
            </a:endParaRPr>
          </a:p>
        </p:txBody>
      </p:sp>
      <p:pic>
        <p:nvPicPr>
          <p:cNvPr id="287" name="Google Shape;287;p14"/>
          <p:cNvPicPr preferRelativeResize="0"/>
          <p:nvPr/>
        </p:nvPicPr>
        <p:blipFill>
          <a:blip r:embed="rId4">
            <a:alphaModFix/>
          </a:blip>
          <a:stretch>
            <a:fillRect/>
          </a:stretch>
        </p:blipFill>
        <p:spPr>
          <a:xfrm>
            <a:off x="7372952" y="1185775"/>
            <a:ext cx="1171073" cy="1614900"/>
          </a:xfrm>
          <a:prstGeom prst="rect">
            <a:avLst/>
          </a:prstGeom>
          <a:noFill/>
          <a:ln>
            <a:noFill/>
          </a:ln>
        </p:spPr>
      </p:pic>
      <p:pic>
        <p:nvPicPr>
          <p:cNvPr id="288" name="Google Shape;288;p14"/>
          <p:cNvPicPr preferRelativeResize="0"/>
          <p:nvPr/>
        </p:nvPicPr>
        <p:blipFill>
          <a:blip r:embed="rId5">
            <a:alphaModFix/>
          </a:blip>
          <a:stretch>
            <a:fillRect/>
          </a:stretch>
        </p:blipFill>
        <p:spPr>
          <a:xfrm>
            <a:off x="631650" y="1740664"/>
            <a:ext cx="505125" cy="505100"/>
          </a:xfrm>
          <a:prstGeom prst="rect">
            <a:avLst/>
          </a:prstGeom>
          <a:noFill/>
          <a:ln>
            <a:noFill/>
          </a:ln>
        </p:spPr>
      </p:pic>
      <p:pic>
        <p:nvPicPr>
          <p:cNvPr id="289" name="Google Shape;289;p14"/>
          <p:cNvPicPr preferRelativeResize="0"/>
          <p:nvPr/>
        </p:nvPicPr>
        <p:blipFill>
          <a:blip r:embed="rId6">
            <a:alphaModFix/>
          </a:blip>
          <a:stretch>
            <a:fillRect/>
          </a:stretch>
        </p:blipFill>
        <p:spPr>
          <a:xfrm>
            <a:off x="653125" y="2475375"/>
            <a:ext cx="462175" cy="279850"/>
          </a:xfrm>
          <a:prstGeom prst="rect">
            <a:avLst/>
          </a:prstGeom>
          <a:noFill/>
          <a:ln>
            <a:noFill/>
          </a:ln>
        </p:spPr>
      </p:pic>
      <p:sp>
        <p:nvSpPr>
          <p:cNvPr id="290" name="Google Shape;290;p14"/>
          <p:cNvSpPr txBox="1"/>
          <p:nvPr/>
        </p:nvSpPr>
        <p:spPr>
          <a:xfrm>
            <a:off x="958975" y="1735550"/>
            <a:ext cx="6031200" cy="14175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2"/>
              </a:buClr>
              <a:buSzPts val="1800"/>
              <a:buFont typeface="Nunito"/>
              <a:buChar char="●"/>
            </a:pPr>
            <a:r>
              <a:rPr lang="es" sz="1800">
                <a:solidFill>
                  <a:schemeClr val="dk2"/>
                </a:solidFill>
                <a:latin typeface="Nunito"/>
                <a:ea typeface="Nunito"/>
                <a:cs typeface="Nunito"/>
                <a:sym typeface="Nunito"/>
              </a:rPr>
              <a:t>Jornada: Lunes a Sábado - 9:00 a 20:00.</a:t>
            </a:r>
            <a:endParaRPr sz="1800">
              <a:solidFill>
                <a:schemeClr val="dk2"/>
              </a:solidFill>
              <a:latin typeface="Nunito"/>
              <a:ea typeface="Nunito"/>
              <a:cs typeface="Nunito"/>
              <a:sym typeface="Nunito"/>
            </a:endParaRPr>
          </a:p>
          <a:p>
            <a:pPr indent="-342900" lvl="0" marL="457200" rtl="0" algn="l">
              <a:lnSpc>
                <a:spcPct val="115000"/>
              </a:lnSpc>
              <a:spcBef>
                <a:spcPts val="0"/>
              </a:spcBef>
              <a:spcAft>
                <a:spcPts val="0"/>
              </a:spcAft>
              <a:buClr>
                <a:schemeClr val="dk2"/>
              </a:buClr>
              <a:buSzPts val="1800"/>
              <a:buFont typeface="Nunito"/>
              <a:buChar char="●"/>
            </a:pPr>
            <a:r>
              <a:rPr lang="es" sz="1800">
                <a:solidFill>
                  <a:schemeClr val="dk2"/>
                </a:solidFill>
                <a:latin typeface="Nunito"/>
                <a:ea typeface="Nunito"/>
                <a:cs typeface="Nunito"/>
                <a:sym typeface="Nunito"/>
              </a:rPr>
              <a:t>Sistema de turnos de una hora.</a:t>
            </a:r>
            <a:endParaRPr sz="1800">
              <a:solidFill>
                <a:schemeClr val="dk2"/>
              </a:solidFill>
              <a:latin typeface="Nunito"/>
              <a:ea typeface="Nunito"/>
              <a:cs typeface="Nunito"/>
              <a:sym typeface="Nunito"/>
            </a:endParaRPr>
          </a:p>
          <a:p>
            <a:pPr indent="-342900" lvl="0" marL="457200" rtl="0" algn="l">
              <a:lnSpc>
                <a:spcPct val="115000"/>
              </a:lnSpc>
              <a:spcBef>
                <a:spcPts val="0"/>
              </a:spcBef>
              <a:spcAft>
                <a:spcPts val="0"/>
              </a:spcAft>
              <a:buClr>
                <a:schemeClr val="dk2"/>
              </a:buClr>
              <a:buSzPts val="1800"/>
              <a:buFont typeface="Nunito"/>
              <a:buChar char="●"/>
            </a:pPr>
            <a:r>
              <a:rPr lang="es" sz="1800">
                <a:solidFill>
                  <a:schemeClr val="dk2"/>
                </a:solidFill>
                <a:latin typeface="Nunito"/>
                <a:ea typeface="Nunito"/>
                <a:cs typeface="Nunito"/>
                <a:sym typeface="Nunito"/>
              </a:rPr>
              <a:t>Corte: $13.000 / Corte + Barba: $18.000.</a:t>
            </a:r>
            <a:endParaRPr sz="1800">
              <a:solidFill>
                <a:schemeClr val="dk2"/>
              </a:solidFill>
              <a:latin typeface="Nunito"/>
              <a:ea typeface="Nunito"/>
              <a:cs typeface="Nunito"/>
              <a:sym typeface="Nunito"/>
            </a:endParaRPr>
          </a:p>
          <a:p>
            <a:pPr indent="-342900" lvl="0" marL="457200" rtl="0" algn="l">
              <a:lnSpc>
                <a:spcPct val="115000"/>
              </a:lnSpc>
              <a:spcBef>
                <a:spcPts val="0"/>
              </a:spcBef>
              <a:spcAft>
                <a:spcPts val="0"/>
              </a:spcAft>
              <a:buClr>
                <a:schemeClr val="dk2"/>
              </a:buClr>
              <a:buSzPts val="1800"/>
              <a:buFont typeface="Nunito"/>
              <a:buChar char="●"/>
            </a:pPr>
            <a:r>
              <a:rPr lang="es" sz="1800">
                <a:solidFill>
                  <a:schemeClr val="dk2"/>
                </a:solidFill>
                <a:latin typeface="Nunito"/>
                <a:ea typeface="Nunito"/>
                <a:cs typeface="Nunito"/>
                <a:sym typeface="Nunito"/>
              </a:rPr>
              <a:t>El tiempo de atención se conoce desde la reserva.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5"/>
          <p:cNvSpPr txBox="1"/>
          <p:nvPr>
            <p:ph type="title"/>
          </p:nvPr>
        </p:nvSpPr>
        <p:spPr>
          <a:xfrm>
            <a:off x="627450" y="2018824"/>
            <a:ext cx="7889100" cy="170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sz="3600"/>
              <a:t>Análisis y Modelado de la solución:</a:t>
            </a:r>
            <a:endParaRPr sz="3600"/>
          </a:p>
          <a:p>
            <a:pPr indent="0" lvl="0" marL="0" rtl="0" algn="ctr">
              <a:spcBef>
                <a:spcPts val="0"/>
              </a:spcBef>
              <a:spcAft>
                <a:spcPts val="0"/>
              </a:spcAft>
              <a:buNone/>
            </a:pPr>
            <a:r>
              <a:rPr lang="es" sz="3600"/>
              <a:t>Análisis Previo</a:t>
            </a:r>
            <a:endParaRPr sz="3600"/>
          </a:p>
        </p:txBody>
      </p:sp>
      <p:sp>
        <p:nvSpPr>
          <p:cNvPr id="296" name="Google Shape;296;p15"/>
          <p:cNvSpPr/>
          <p:nvPr/>
        </p:nvSpPr>
        <p:spPr>
          <a:xfrm>
            <a:off x="4075050" y="807612"/>
            <a:ext cx="993900" cy="969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6000">
                <a:latin typeface="Comfortaa"/>
                <a:ea typeface="Comfortaa"/>
                <a:cs typeface="Comfortaa"/>
                <a:sym typeface="Comfortaa"/>
              </a:rPr>
              <a:t>1</a:t>
            </a:r>
            <a:endParaRPr sz="6000">
              <a:latin typeface="Comfortaa"/>
              <a:ea typeface="Comfortaa"/>
              <a:cs typeface="Comfortaa"/>
              <a:sym typeface="Comfortaa"/>
            </a:endParaRPr>
          </a:p>
        </p:txBody>
      </p:sp>
      <p:pic>
        <p:nvPicPr>
          <p:cNvPr id="297" name="Google Shape;297;p15"/>
          <p:cNvPicPr preferRelativeResize="0"/>
          <p:nvPr/>
        </p:nvPicPr>
        <p:blipFill>
          <a:blip r:embed="rId3">
            <a:alphaModFix/>
          </a:blip>
          <a:stretch>
            <a:fillRect/>
          </a:stretch>
        </p:blipFill>
        <p:spPr>
          <a:xfrm>
            <a:off x="152400" y="171450"/>
            <a:ext cx="1714024" cy="1714024"/>
          </a:xfrm>
          <a:prstGeom prst="rect">
            <a:avLst/>
          </a:prstGeom>
          <a:noFill/>
          <a:ln>
            <a:noFill/>
          </a:ln>
        </p:spPr>
      </p:pic>
      <p:pic>
        <p:nvPicPr>
          <p:cNvPr id="298" name="Google Shape;298;p15"/>
          <p:cNvPicPr preferRelativeResize="0"/>
          <p:nvPr/>
        </p:nvPicPr>
        <p:blipFill>
          <a:blip r:embed="rId4">
            <a:alphaModFix/>
          </a:blip>
          <a:stretch>
            <a:fillRect/>
          </a:stretch>
        </p:blipFill>
        <p:spPr>
          <a:xfrm>
            <a:off x="1347100" y="388700"/>
            <a:ext cx="609350" cy="609350"/>
          </a:xfrm>
          <a:prstGeom prst="rect">
            <a:avLst/>
          </a:prstGeom>
          <a:noFill/>
          <a:ln>
            <a:noFill/>
          </a:ln>
        </p:spPr>
      </p:pic>
      <p:pic>
        <p:nvPicPr>
          <p:cNvPr id="299" name="Google Shape;299;p15"/>
          <p:cNvPicPr preferRelativeResize="0"/>
          <p:nvPr/>
        </p:nvPicPr>
        <p:blipFill>
          <a:blip r:embed="rId5">
            <a:alphaModFix/>
          </a:blip>
          <a:stretch>
            <a:fillRect/>
          </a:stretch>
        </p:blipFill>
        <p:spPr>
          <a:xfrm>
            <a:off x="3895023" y="3370175"/>
            <a:ext cx="1353950" cy="135397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6"/>
          <p:cNvSpPr txBox="1"/>
          <p:nvPr>
            <p:ph type="title"/>
          </p:nvPr>
        </p:nvSpPr>
        <p:spPr>
          <a:xfrm>
            <a:off x="1202650" y="230125"/>
            <a:ext cx="61398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1. Análisis y Modelado de la solución:</a:t>
            </a:r>
            <a:endParaRPr/>
          </a:p>
          <a:p>
            <a:pPr indent="0" lvl="0" marL="0" rtl="0" algn="l">
              <a:spcBef>
                <a:spcPts val="0"/>
              </a:spcBef>
              <a:spcAft>
                <a:spcPts val="0"/>
              </a:spcAft>
              <a:buNone/>
            </a:pPr>
            <a:r>
              <a:rPr lang="es"/>
              <a:t>Análisis Previo</a:t>
            </a:r>
            <a:endParaRPr/>
          </a:p>
        </p:txBody>
      </p:sp>
      <p:sp>
        <p:nvSpPr>
          <p:cNvPr id="305" name="Google Shape;305;p16"/>
          <p:cNvSpPr/>
          <p:nvPr/>
        </p:nvSpPr>
        <p:spPr>
          <a:xfrm>
            <a:off x="4124875" y="1807991"/>
            <a:ext cx="3782700" cy="8457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solidFill>
                  <a:schemeClr val="dk1"/>
                </a:solidFill>
                <a:latin typeface="Nunito"/>
                <a:ea typeface="Nunito"/>
                <a:cs typeface="Nunito"/>
                <a:sym typeface="Nunito"/>
              </a:rPr>
              <a:t>DATO</a:t>
            </a:r>
            <a:endParaRPr b="1">
              <a:solidFill>
                <a:schemeClr val="dk1"/>
              </a:solidFill>
              <a:latin typeface="Nunito"/>
              <a:ea typeface="Nunito"/>
              <a:cs typeface="Nunito"/>
              <a:sym typeface="Nunito"/>
            </a:endParaRPr>
          </a:p>
          <a:p>
            <a:pPr indent="0" lvl="0" marL="0" rtl="0" algn="ctr">
              <a:spcBef>
                <a:spcPts val="0"/>
              </a:spcBef>
              <a:spcAft>
                <a:spcPts val="0"/>
              </a:spcAft>
              <a:buNone/>
            </a:pPr>
            <a:r>
              <a:rPr b="1" lang="es">
                <a:latin typeface="Nunito"/>
                <a:ea typeface="Nunito"/>
                <a:cs typeface="Nunito"/>
                <a:sym typeface="Nunito"/>
              </a:rPr>
              <a:t>IA</a:t>
            </a:r>
            <a:r>
              <a:rPr lang="es">
                <a:latin typeface="Nunito"/>
                <a:ea typeface="Nunito"/>
                <a:cs typeface="Nunito"/>
                <a:sym typeface="Nunito"/>
              </a:rPr>
              <a:t>: Intervalo de arribo</a:t>
            </a:r>
            <a:endParaRPr>
              <a:latin typeface="Nunito"/>
              <a:ea typeface="Nunito"/>
              <a:cs typeface="Nunito"/>
              <a:sym typeface="Nunito"/>
            </a:endParaRPr>
          </a:p>
          <a:p>
            <a:pPr indent="0" lvl="0" marL="0" rtl="0" algn="ctr">
              <a:spcBef>
                <a:spcPts val="0"/>
              </a:spcBef>
              <a:spcAft>
                <a:spcPts val="0"/>
              </a:spcAft>
              <a:buNone/>
            </a:pPr>
            <a:r>
              <a:rPr b="1" lang="es">
                <a:latin typeface="Nunito"/>
                <a:ea typeface="Nunito"/>
                <a:cs typeface="Nunito"/>
                <a:sym typeface="Nunito"/>
              </a:rPr>
              <a:t>TA</a:t>
            </a:r>
            <a:r>
              <a:rPr lang="es">
                <a:latin typeface="Nunito"/>
                <a:ea typeface="Nunito"/>
                <a:cs typeface="Nunito"/>
                <a:sym typeface="Nunito"/>
              </a:rPr>
              <a:t>; Tiempo de Atención</a:t>
            </a:r>
            <a:endParaRPr>
              <a:latin typeface="Nunito"/>
              <a:ea typeface="Nunito"/>
              <a:cs typeface="Nunito"/>
              <a:sym typeface="Nunito"/>
            </a:endParaRPr>
          </a:p>
        </p:txBody>
      </p:sp>
      <p:sp>
        <p:nvSpPr>
          <p:cNvPr id="306" name="Google Shape;306;p16"/>
          <p:cNvSpPr/>
          <p:nvPr/>
        </p:nvSpPr>
        <p:spPr>
          <a:xfrm>
            <a:off x="782700" y="1808000"/>
            <a:ext cx="3168000" cy="8457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solidFill>
                  <a:srgbClr val="0000FF"/>
                </a:solidFill>
                <a:latin typeface="Nunito"/>
                <a:ea typeface="Nunito"/>
                <a:cs typeface="Nunito"/>
                <a:sym typeface="Nunito"/>
              </a:rPr>
              <a:t>CONTROL</a:t>
            </a:r>
            <a:endParaRPr>
              <a:solidFill>
                <a:srgbClr val="0000FF"/>
              </a:solidFill>
              <a:latin typeface="Nunito"/>
              <a:ea typeface="Nunito"/>
              <a:cs typeface="Nunito"/>
              <a:sym typeface="Nunito"/>
            </a:endParaRPr>
          </a:p>
          <a:p>
            <a:pPr indent="0" lvl="0" marL="0" rtl="0" algn="ctr">
              <a:spcBef>
                <a:spcPts val="0"/>
              </a:spcBef>
              <a:spcAft>
                <a:spcPts val="0"/>
              </a:spcAft>
              <a:buNone/>
            </a:pPr>
            <a:r>
              <a:rPr b="1" lang="es">
                <a:latin typeface="Nunito"/>
                <a:ea typeface="Nunito"/>
                <a:cs typeface="Nunito"/>
                <a:sym typeface="Nunito"/>
              </a:rPr>
              <a:t>N</a:t>
            </a:r>
            <a:r>
              <a:rPr lang="es">
                <a:latin typeface="Nunito"/>
                <a:ea typeface="Nunito"/>
                <a:cs typeface="Nunito"/>
                <a:sym typeface="Nunito"/>
              </a:rPr>
              <a:t>: Cantidad de puestos</a:t>
            </a:r>
            <a:endParaRPr>
              <a:latin typeface="Nunito"/>
              <a:ea typeface="Nunito"/>
              <a:cs typeface="Nunito"/>
              <a:sym typeface="Nunito"/>
            </a:endParaRPr>
          </a:p>
        </p:txBody>
      </p:sp>
      <p:sp>
        <p:nvSpPr>
          <p:cNvPr id="307" name="Google Shape;307;p16"/>
          <p:cNvSpPr/>
          <p:nvPr/>
        </p:nvSpPr>
        <p:spPr>
          <a:xfrm>
            <a:off x="608775" y="3389075"/>
            <a:ext cx="2832600" cy="8457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solidFill>
                  <a:srgbClr val="274E13"/>
                </a:solidFill>
                <a:latin typeface="Nunito"/>
                <a:ea typeface="Nunito"/>
                <a:cs typeface="Nunito"/>
                <a:sym typeface="Nunito"/>
              </a:rPr>
              <a:t>ESTADO</a:t>
            </a:r>
            <a:endParaRPr b="1">
              <a:solidFill>
                <a:srgbClr val="274E13"/>
              </a:solidFill>
              <a:latin typeface="Nunito"/>
              <a:ea typeface="Nunito"/>
              <a:cs typeface="Nunito"/>
              <a:sym typeface="Nunito"/>
            </a:endParaRPr>
          </a:p>
          <a:p>
            <a:pPr indent="0" lvl="0" marL="0" rtl="0" algn="ctr">
              <a:spcBef>
                <a:spcPts val="0"/>
              </a:spcBef>
              <a:spcAft>
                <a:spcPts val="0"/>
              </a:spcAft>
              <a:buNone/>
            </a:pPr>
            <a:r>
              <a:rPr b="1" lang="es">
                <a:latin typeface="Nunito"/>
                <a:ea typeface="Nunito"/>
                <a:cs typeface="Nunito"/>
                <a:sym typeface="Nunito"/>
              </a:rPr>
              <a:t>TC[i]</a:t>
            </a:r>
            <a:r>
              <a:rPr lang="es">
                <a:latin typeface="Nunito"/>
                <a:ea typeface="Nunito"/>
                <a:cs typeface="Nunito"/>
                <a:sym typeface="Nunito"/>
              </a:rPr>
              <a:t>: Tiempo comprometido de cada puesto</a:t>
            </a:r>
            <a:endParaRPr>
              <a:latin typeface="Nunito"/>
              <a:ea typeface="Nunito"/>
              <a:cs typeface="Nunito"/>
              <a:sym typeface="Nunito"/>
            </a:endParaRPr>
          </a:p>
        </p:txBody>
      </p:sp>
      <p:sp>
        <p:nvSpPr>
          <p:cNvPr id="308" name="Google Shape;308;p16"/>
          <p:cNvSpPr/>
          <p:nvPr/>
        </p:nvSpPr>
        <p:spPr>
          <a:xfrm>
            <a:off x="3696075" y="3389075"/>
            <a:ext cx="4776900" cy="13692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solidFill>
                  <a:srgbClr val="FF0000"/>
                </a:solidFill>
                <a:latin typeface="Nunito"/>
                <a:ea typeface="Nunito"/>
                <a:cs typeface="Nunito"/>
                <a:sym typeface="Nunito"/>
              </a:rPr>
              <a:t>RESULTADO</a:t>
            </a:r>
            <a:endParaRPr b="1">
              <a:solidFill>
                <a:srgbClr val="FF0000"/>
              </a:solidFill>
              <a:latin typeface="Nunito"/>
              <a:ea typeface="Nunito"/>
              <a:cs typeface="Nunito"/>
              <a:sym typeface="Nunito"/>
            </a:endParaRPr>
          </a:p>
          <a:p>
            <a:pPr indent="0" lvl="0" marL="0" rtl="0" algn="ctr">
              <a:spcBef>
                <a:spcPts val="0"/>
              </a:spcBef>
              <a:spcAft>
                <a:spcPts val="0"/>
              </a:spcAft>
              <a:buNone/>
            </a:pPr>
            <a:r>
              <a:rPr b="1" lang="es">
                <a:latin typeface="Nunito"/>
                <a:ea typeface="Nunito"/>
                <a:cs typeface="Nunito"/>
                <a:sym typeface="Nunito"/>
              </a:rPr>
              <a:t>PPS</a:t>
            </a:r>
            <a:r>
              <a:rPr lang="es">
                <a:latin typeface="Nunito"/>
                <a:ea typeface="Nunito"/>
                <a:cs typeface="Nunito"/>
                <a:sym typeface="Nunito"/>
              </a:rPr>
              <a:t>: Promedio de permanencia en el sistema global</a:t>
            </a:r>
            <a:endParaRPr>
              <a:latin typeface="Nunito"/>
              <a:ea typeface="Nunito"/>
              <a:cs typeface="Nunito"/>
              <a:sym typeface="Nunito"/>
            </a:endParaRPr>
          </a:p>
          <a:p>
            <a:pPr indent="0" lvl="0" marL="0" rtl="0" algn="ctr">
              <a:spcBef>
                <a:spcPts val="0"/>
              </a:spcBef>
              <a:spcAft>
                <a:spcPts val="0"/>
              </a:spcAft>
              <a:buNone/>
            </a:pPr>
            <a:r>
              <a:rPr b="1" lang="es">
                <a:latin typeface="Nunito"/>
                <a:ea typeface="Nunito"/>
                <a:cs typeface="Nunito"/>
                <a:sym typeface="Nunito"/>
              </a:rPr>
              <a:t>PE[i]</a:t>
            </a:r>
            <a:r>
              <a:rPr lang="es">
                <a:latin typeface="Nunito"/>
                <a:ea typeface="Nunito"/>
                <a:cs typeface="Nunito"/>
                <a:sym typeface="Nunito"/>
              </a:rPr>
              <a:t>: Promedio de espera de c/puesto</a:t>
            </a:r>
            <a:endParaRPr>
              <a:latin typeface="Nunito"/>
              <a:ea typeface="Nunito"/>
              <a:cs typeface="Nunito"/>
              <a:sym typeface="Nunito"/>
            </a:endParaRPr>
          </a:p>
          <a:p>
            <a:pPr indent="0" lvl="0" marL="0" rtl="0" algn="ctr">
              <a:spcBef>
                <a:spcPts val="0"/>
              </a:spcBef>
              <a:spcAft>
                <a:spcPts val="0"/>
              </a:spcAft>
              <a:buNone/>
            </a:pPr>
            <a:r>
              <a:rPr b="1" lang="es">
                <a:latin typeface="Nunito"/>
                <a:ea typeface="Nunito"/>
                <a:cs typeface="Nunito"/>
                <a:sym typeface="Nunito"/>
              </a:rPr>
              <a:t>PTO[i]</a:t>
            </a:r>
            <a:r>
              <a:rPr lang="es">
                <a:latin typeface="Nunito"/>
                <a:ea typeface="Nunito"/>
                <a:cs typeface="Nunito"/>
                <a:sym typeface="Nunito"/>
              </a:rPr>
              <a:t>; Porcentaje de tiempo ocioso de c/puesto</a:t>
            </a:r>
            <a:endParaRPr>
              <a:latin typeface="Nunito"/>
              <a:ea typeface="Nunito"/>
              <a:cs typeface="Nunito"/>
              <a:sym typeface="Nunito"/>
            </a:endParaRPr>
          </a:p>
          <a:p>
            <a:pPr indent="0" lvl="0" marL="0" rtl="0" algn="ctr">
              <a:spcBef>
                <a:spcPts val="0"/>
              </a:spcBef>
              <a:spcAft>
                <a:spcPts val="0"/>
              </a:spcAft>
              <a:buNone/>
            </a:pPr>
            <a:r>
              <a:rPr b="1" lang="es">
                <a:latin typeface="Nunito"/>
                <a:ea typeface="Nunito"/>
                <a:cs typeface="Nunito"/>
                <a:sym typeface="Nunito"/>
              </a:rPr>
              <a:t>P</a:t>
            </a:r>
            <a:r>
              <a:rPr b="1" lang="es">
                <a:latin typeface="Nunito"/>
                <a:ea typeface="Nunito"/>
                <a:cs typeface="Nunito"/>
                <a:sym typeface="Nunito"/>
              </a:rPr>
              <a:t>E</a:t>
            </a:r>
            <a:r>
              <a:rPr b="1" lang="es">
                <a:latin typeface="Nunito"/>
                <a:ea typeface="Nunito"/>
                <a:cs typeface="Nunito"/>
                <a:sym typeface="Nunito"/>
              </a:rPr>
              <a:t>20</a:t>
            </a:r>
            <a:r>
              <a:rPr lang="es">
                <a:latin typeface="Nunito"/>
                <a:ea typeface="Nunito"/>
                <a:cs typeface="Nunito"/>
                <a:sym typeface="Nunito"/>
              </a:rPr>
              <a:t>: Porcentaje de </a:t>
            </a:r>
            <a:r>
              <a:rPr lang="es">
                <a:latin typeface="Nunito"/>
                <a:ea typeface="Nunito"/>
                <a:cs typeface="Nunito"/>
                <a:sym typeface="Nunito"/>
              </a:rPr>
              <a:t>gente </a:t>
            </a:r>
            <a:r>
              <a:rPr lang="es">
                <a:latin typeface="Nunito"/>
                <a:ea typeface="Nunito"/>
                <a:cs typeface="Nunito"/>
                <a:sym typeface="Nunito"/>
              </a:rPr>
              <a:t>que esper</a:t>
            </a:r>
            <a:r>
              <a:rPr lang="es">
                <a:latin typeface="Nunito"/>
                <a:ea typeface="Nunito"/>
                <a:cs typeface="Nunito"/>
                <a:sym typeface="Nunito"/>
              </a:rPr>
              <a:t>ó</a:t>
            </a:r>
            <a:r>
              <a:rPr lang="es">
                <a:latin typeface="Nunito"/>
                <a:ea typeface="Nunito"/>
                <a:cs typeface="Nunito"/>
                <a:sym typeface="Nunito"/>
              </a:rPr>
              <a:t> más de 20min</a:t>
            </a:r>
            <a:endParaRPr>
              <a:latin typeface="Nunito"/>
              <a:ea typeface="Nunito"/>
              <a:cs typeface="Nunito"/>
              <a:sym typeface="Nunito"/>
            </a:endParaRPr>
          </a:p>
        </p:txBody>
      </p:sp>
      <p:sp>
        <p:nvSpPr>
          <p:cNvPr id="309" name="Google Shape;309;p16"/>
          <p:cNvSpPr txBox="1"/>
          <p:nvPr>
            <p:ph type="title"/>
          </p:nvPr>
        </p:nvSpPr>
        <p:spPr>
          <a:xfrm>
            <a:off x="348004" y="1219111"/>
            <a:ext cx="8448000" cy="5889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a:solidFill>
                  <a:schemeClr val="accent1"/>
                </a:solidFill>
              </a:rPr>
              <a:t>VARIABLES ENDÓGENAS</a:t>
            </a:r>
            <a:endParaRPr>
              <a:solidFill>
                <a:schemeClr val="accent1"/>
              </a:solidFill>
            </a:endParaRPr>
          </a:p>
        </p:txBody>
      </p:sp>
      <p:sp>
        <p:nvSpPr>
          <p:cNvPr id="310" name="Google Shape;310;p16"/>
          <p:cNvSpPr txBox="1"/>
          <p:nvPr>
            <p:ph type="title"/>
          </p:nvPr>
        </p:nvSpPr>
        <p:spPr>
          <a:xfrm>
            <a:off x="397693" y="2732107"/>
            <a:ext cx="8448000" cy="5889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a:solidFill>
                  <a:schemeClr val="accent5"/>
                </a:solidFill>
              </a:rPr>
              <a:t>VARIABLES </a:t>
            </a:r>
            <a:r>
              <a:rPr lang="es">
                <a:solidFill>
                  <a:schemeClr val="accent5"/>
                </a:solidFill>
              </a:rPr>
              <a:t>EXÓGENAS</a:t>
            </a:r>
            <a:endParaRPr>
              <a:solidFill>
                <a:schemeClr val="accent5"/>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17"/>
          <p:cNvSpPr txBox="1"/>
          <p:nvPr>
            <p:ph idx="1" type="body"/>
          </p:nvPr>
        </p:nvSpPr>
        <p:spPr>
          <a:xfrm>
            <a:off x="1320046" y="709763"/>
            <a:ext cx="7202400" cy="36759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s" sz="2400" u="sng"/>
              <a:t>Metodología:</a:t>
            </a:r>
            <a:r>
              <a:rPr lang="es" sz="2400"/>
              <a:t> Evento a Evento</a:t>
            </a:r>
            <a:endParaRPr sz="2400"/>
          </a:p>
          <a:p>
            <a:pPr indent="0" lvl="0" marL="0" rtl="0" algn="l">
              <a:lnSpc>
                <a:spcPct val="100000"/>
              </a:lnSpc>
              <a:spcBef>
                <a:spcPts val="0"/>
              </a:spcBef>
              <a:spcAft>
                <a:spcPts val="0"/>
              </a:spcAft>
              <a:buNone/>
            </a:pPr>
            <a:r>
              <a:t/>
            </a:r>
            <a:endParaRPr sz="2400"/>
          </a:p>
          <a:p>
            <a:pPr indent="0" lvl="0" marL="0" rtl="0" algn="l">
              <a:lnSpc>
                <a:spcPct val="100000"/>
              </a:lnSpc>
              <a:spcBef>
                <a:spcPts val="0"/>
              </a:spcBef>
              <a:spcAft>
                <a:spcPts val="0"/>
              </a:spcAft>
              <a:buNone/>
            </a:pPr>
            <a:r>
              <a:rPr b="1" lang="es" sz="2400" u="sng"/>
              <a:t>Tabla de Eventos Futuros (</a:t>
            </a:r>
            <a:r>
              <a:rPr b="1" lang="es" sz="2400" u="sng">
                <a:solidFill>
                  <a:schemeClr val="lt2"/>
                </a:solidFill>
              </a:rPr>
              <a:t>TEF</a:t>
            </a:r>
            <a:r>
              <a:rPr b="1" lang="es" sz="2400" u="sng"/>
              <a:t>):</a:t>
            </a:r>
            <a:r>
              <a:rPr lang="es" sz="2400"/>
              <a:t> TPLL</a:t>
            </a:r>
            <a:endParaRPr sz="2400"/>
          </a:p>
          <a:p>
            <a:pPr indent="0" lvl="0" marL="0" rtl="0" algn="l">
              <a:spcBef>
                <a:spcPts val="0"/>
              </a:spcBef>
              <a:spcAft>
                <a:spcPts val="0"/>
              </a:spcAft>
              <a:buNone/>
            </a:pPr>
            <a:r>
              <a:t/>
            </a:r>
            <a:endParaRPr sz="2400"/>
          </a:p>
          <a:p>
            <a:pPr indent="0" lvl="0" marL="0" rtl="0" algn="l">
              <a:lnSpc>
                <a:spcPct val="100000"/>
              </a:lnSpc>
              <a:spcBef>
                <a:spcPts val="1200"/>
              </a:spcBef>
              <a:spcAft>
                <a:spcPts val="0"/>
              </a:spcAft>
              <a:buNone/>
            </a:pPr>
            <a:r>
              <a:rPr b="1" lang="es" sz="2400" u="sng"/>
              <a:t>Tabla de Eventos Independientes (</a:t>
            </a:r>
            <a:r>
              <a:rPr b="1" lang="es" sz="2400" u="sng">
                <a:solidFill>
                  <a:schemeClr val="accent2"/>
                </a:solidFill>
              </a:rPr>
              <a:t>TEI</a:t>
            </a:r>
            <a:r>
              <a:rPr b="1" lang="es" sz="2400" u="sng"/>
              <a:t>): </a:t>
            </a:r>
            <a:endParaRPr b="1" sz="2400" u="sng"/>
          </a:p>
          <a:p>
            <a:pPr indent="0" lvl="0" marL="0" rtl="0" algn="l">
              <a:spcBef>
                <a:spcPts val="0"/>
              </a:spcBef>
              <a:spcAft>
                <a:spcPts val="1200"/>
              </a:spcAft>
              <a:buNone/>
            </a:pPr>
            <a:r>
              <a:t/>
            </a:r>
            <a:endParaRPr/>
          </a:p>
        </p:txBody>
      </p:sp>
      <p:graphicFrame>
        <p:nvGraphicFramePr>
          <p:cNvPr id="316" name="Google Shape;316;p17"/>
          <p:cNvGraphicFramePr/>
          <p:nvPr/>
        </p:nvGraphicFramePr>
        <p:xfrm>
          <a:off x="1270344" y="3251375"/>
          <a:ext cx="3000000" cy="3000000"/>
        </p:xfrm>
        <a:graphic>
          <a:graphicData uri="http://schemas.openxmlformats.org/drawingml/2006/table">
            <a:tbl>
              <a:tblPr>
                <a:noFill/>
                <a:tableStyleId>{A5203369-A9CA-4BB3-8692-D509357BDCD9}</a:tableStyleId>
              </a:tblPr>
              <a:tblGrid>
                <a:gridCol w="1650825"/>
                <a:gridCol w="1650825"/>
                <a:gridCol w="1650825"/>
                <a:gridCol w="1650825"/>
              </a:tblGrid>
              <a:tr h="512525">
                <a:tc>
                  <a:txBody>
                    <a:bodyPr/>
                    <a:lstStyle/>
                    <a:p>
                      <a:pPr indent="0" lvl="0" marL="0" marR="0" rtl="0" algn="ctr">
                        <a:lnSpc>
                          <a:spcPct val="100000"/>
                        </a:lnSpc>
                        <a:spcBef>
                          <a:spcPts val="0"/>
                        </a:spcBef>
                        <a:spcAft>
                          <a:spcPts val="0"/>
                        </a:spcAft>
                        <a:buNone/>
                      </a:pPr>
                      <a:r>
                        <a:rPr lang="es" sz="1800">
                          <a:solidFill>
                            <a:schemeClr val="dk2"/>
                          </a:solidFill>
                          <a:latin typeface="Nunito"/>
                          <a:ea typeface="Nunito"/>
                          <a:cs typeface="Nunito"/>
                          <a:sym typeface="Nunito"/>
                        </a:rPr>
                        <a:t>EVENTO</a:t>
                      </a:r>
                      <a:endParaRPr sz="1800">
                        <a:solidFill>
                          <a:schemeClr val="dk2"/>
                        </a:solidFill>
                        <a:latin typeface="Nunito"/>
                        <a:ea typeface="Nunito"/>
                        <a:cs typeface="Nunito"/>
                        <a:sym typeface="Nuni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marR="0" rtl="0" algn="ctr">
                        <a:lnSpc>
                          <a:spcPct val="100000"/>
                        </a:lnSpc>
                        <a:spcBef>
                          <a:spcPts val="0"/>
                        </a:spcBef>
                        <a:spcAft>
                          <a:spcPts val="0"/>
                        </a:spcAft>
                        <a:buNone/>
                      </a:pPr>
                      <a:r>
                        <a:rPr lang="es" sz="1800">
                          <a:solidFill>
                            <a:schemeClr val="dk2"/>
                          </a:solidFill>
                          <a:latin typeface="Nunito"/>
                          <a:ea typeface="Nunito"/>
                          <a:cs typeface="Nunito"/>
                          <a:sym typeface="Nunito"/>
                        </a:rPr>
                        <a:t>EFNC</a:t>
                      </a:r>
                      <a:endParaRPr sz="1800">
                        <a:solidFill>
                          <a:schemeClr val="dk2"/>
                        </a:solidFill>
                        <a:latin typeface="Nunito"/>
                        <a:ea typeface="Nunito"/>
                        <a:cs typeface="Nunito"/>
                        <a:sym typeface="Nuni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marR="0" rtl="0" algn="ctr">
                        <a:lnSpc>
                          <a:spcPct val="100000"/>
                        </a:lnSpc>
                        <a:spcBef>
                          <a:spcPts val="0"/>
                        </a:spcBef>
                        <a:spcAft>
                          <a:spcPts val="0"/>
                        </a:spcAft>
                        <a:buNone/>
                      </a:pPr>
                      <a:r>
                        <a:rPr lang="es" sz="1800">
                          <a:solidFill>
                            <a:schemeClr val="dk2"/>
                          </a:solidFill>
                          <a:latin typeface="Nunito"/>
                          <a:ea typeface="Nunito"/>
                          <a:cs typeface="Nunito"/>
                          <a:sym typeface="Nunito"/>
                        </a:rPr>
                        <a:t>EFC</a:t>
                      </a:r>
                      <a:endParaRPr sz="1800">
                        <a:solidFill>
                          <a:schemeClr val="dk2"/>
                        </a:solidFill>
                        <a:latin typeface="Nunito"/>
                        <a:ea typeface="Nunito"/>
                        <a:cs typeface="Nunito"/>
                        <a:sym typeface="Nuni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marR="0" rtl="0" algn="ctr">
                        <a:lnSpc>
                          <a:spcPct val="100000"/>
                        </a:lnSpc>
                        <a:spcBef>
                          <a:spcPts val="0"/>
                        </a:spcBef>
                        <a:spcAft>
                          <a:spcPts val="0"/>
                        </a:spcAft>
                        <a:buNone/>
                      </a:pPr>
                      <a:r>
                        <a:rPr lang="es" sz="1800">
                          <a:solidFill>
                            <a:schemeClr val="dk2"/>
                          </a:solidFill>
                          <a:latin typeface="Nunito"/>
                          <a:ea typeface="Nunito"/>
                          <a:cs typeface="Nunito"/>
                          <a:sym typeface="Nunito"/>
                        </a:rPr>
                        <a:t>CONDICIÓN</a:t>
                      </a:r>
                      <a:endParaRPr sz="1800">
                        <a:solidFill>
                          <a:schemeClr val="dk2"/>
                        </a:solidFill>
                        <a:latin typeface="Nunito"/>
                        <a:ea typeface="Nunito"/>
                        <a:cs typeface="Nunito"/>
                        <a:sym typeface="Nuni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r>
              <a:tr h="447750">
                <a:tc>
                  <a:txBody>
                    <a:bodyPr/>
                    <a:lstStyle/>
                    <a:p>
                      <a:pPr indent="0" lvl="0" marL="0" marR="0" rtl="0" algn="ctr">
                        <a:lnSpc>
                          <a:spcPct val="100000"/>
                        </a:lnSpc>
                        <a:spcBef>
                          <a:spcPts val="0"/>
                        </a:spcBef>
                        <a:spcAft>
                          <a:spcPts val="0"/>
                        </a:spcAft>
                        <a:buNone/>
                      </a:pPr>
                      <a:r>
                        <a:rPr lang="es" sz="1800">
                          <a:solidFill>
                            <a:schemeClr val="dk2"/>
                          </a:solidFill>
                          <a:latin typeface="Nunito"/>
                          <a:ea typeface="Nunito"/>
                          <a:cs typeface="Nunito"/>
                          <a:sym typeface="Nunito"/>
                        </a:rPr>
                        <a:t>LLEGADA</a:t>
                      </a:r>
                      <a:endParaRPr sz="1800">
                        <a:solidFill>
                          <a:schemeClr val="dk2"/>
                        </a:solidFill>
                        <a:latin typeface="Nunito"/>
                        <a:ea typeface="Nunito"/>
                        <a:cs typeface="Nunito"/>
                        <a:sym typeface="Nuni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s" sz="1800">
                          <a:solidFill>
                            <a:schemeClr val="dk2"/>
                          </a:solidFill>
                          <a:latin typeface="Nunito"/>
                          <a:ea typeface="Nunito"/>
                          <a:cs typeface="Nunito"/>
                          <a:sym typeface="Nunito"/>
                        </a:rPr>
                        <a:t>LLEGADA</a:t>
                      </a:r>
                      <a:endParaRPr sz="1800">
                        <a:solidFill>
                          <a:schemeClr val="dk2"/>
                        </a:solidFill>
                        <a:latin typeface="Nunito"/>
                        <a:ea typeface="Nunito"/>
                        <a:cs typeface="Nunito"/>
                        <a:sym typeface="Nuni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s" sz="1800">
                          <a:solidFill>
                            <a:schemeClr val="dk2"/>
                          </a:solidFill>
                          <a:latin typeface="Nunito"/>
                          <a:ea typeface="Nunito"/>
                          <a:cs typeface="Nunito"/>
                          <a:sym typeface="Nunito"/>
                        </a:rPr>
                        <a:t>—</a:t>
                      </a:r>
                      <a:endParaRPr sz="1800">
                        <a:solidFill>
                          <a:schemeClr val="dk2"/>
                        </a:solidFill>
                        <a:latin typeface="Nunito"/>
                        <a:ea typeface="Nunito"/>
                        <a:cs typeface="Nunito"/>
                        <a:sym typeface="Nuni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s" sz="1800">
                          <a:solidFill>
                            <a:schemeClr val="dk2"/>
                          </a:solidFill>
                          <a:latin typeface="Nunito"/>
                          <a:ea typeface="Nunito"/>
                          <a:cs typeface="Nunito"/>
                          <a:sym typeface="Nunito"/>
                        </a:rPr>
                        <a:t>—</a:t>
                      </a:r>
                      <a:endParaRPr sz="1800">
                        <a:solidFill>
                          <a:schemeClr val="dk2"/>
                        </a:solidFill>
                        <a:latin typeface="Nunito"/>
                        <a:ea typeface="Nunito"/>
                        <a:cs typeface="Nunito"/>
                        <a:sym typeface="Nuni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18"/>
          <p:cNvSpPr txBox="1"/>
          <p:nvPr>
            <p:ph type="title"/>
          </p:nvPr>
        </p:nvSpPr>
        <p:spPr>
          <a:xfrm>
            <a:off x="627450" y="1999774"/>
            <a:ext cx="7889100" cy="170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sz="3600"/>
              <a:t>Análisis y Modelado de la solución:</a:t>
            </a:r>
            <a:endParaRPr sz="3600"/>
          </a:p>
          <a:p>
            <a:pPr indent="0" lvl="0" marL="0" rtl="0" algn="ctr">
              <a:spcBef>
                <a:spcPts val="0"/>
              </a:spcBef>
              <a:spcAft>
                <a:spcPts val="0"/>
              </a:spcAft>
              <a:buNone/>
            </a:pPr>
            <a:r>
              <a:rPr lang="es" sz="3600"/>
              <a:t>Diagrama de Flujo</a:t>
            </a:r>
            <a:endParaRPr sz="3600"/>
          </a:p>
        </p:txBody>
      </p:sp>
      <p:sp>
        <p:nvSpPr>
          <p:cNvPr id="322" name="Google Shape;322;p18"/>
          <p:cNvSpPr/>
          <p:nvPr/>
        </p:nvSpPr>
        <p:spPr>
          <a:xfrm>
            <a:off x="4075050" y="807612"/>
            <a:ext cx="993900" cy="969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6000">
                <a:latin typeface="Comfortaa"/>
                <a:ea typeface="Comfortaa"/>
                <a:cs typeface="Comfortaa"/>
                <a:sym typeface="Comfortaa"/>
              </a:rPr>
              <a:t>2</a:t>
            </a:r>
            <a:endParaRPr sz="6000">
              <a:latin typeface="Comfortaa"/>
              <a:ea typeface="Comfortaa"/>
              <a:cs typeface="Comfortaa"/>
              <a:sym typeface="Comfortaa"/>
            </a:endParaRPr>
          </a:p>
        </p:txBody>
      </p:sp>
      <p:pic>
        <p:nvPicPr>
          <p:cNvPr id="323" name="Google Shape;323;p18"/>
          <p:cNvPicPr preferRelativeResize="0"/>
          <p:nvPr/>
        </p:nvPicPr>
        <p:blipFill>
          <a:blip r:embed="rId3">
            <a:alphaModFix/>
          </a:blip>
          <a:stretch>
            <a:fillRect/>
          </a:stretch>
        </p:blipFill>
        <p:spPr>
          <a:xfrm>
            <a:off x="152400" y="171450"/>
            <a:ext cx="1714024" cy="1714024"/>
          </a:xfrm>
          <a:prstGeom prst="rect">
            <a:avLst/>
          </a:prstGeom>
          <a:noFill/>
          <a:ln>
            <a:noFill/>
          </a:ln>
        </p:spPr>
      </p:pic>
      <p:pic>
        <p:nvPicPr>
          <p:cNvPr id="324" name="Google Shape;324;p18"/>
          <p:cNvPicPr preferRelativeResize="0"/>
          <p:nvPr/>
        </p:nvPicPr>
        <p:blipFill>
          <a:blip r:embed="rId4">
            <a:alphaModFix/>
          </a:blip>
          <a:stretch>
            <a:fillRect/>
          </a:stretch>
        </p:blipFill>
        <p:spPr>
          <a:xfrm>
            <a:off x="1347100" y="388700"/>
            <a:ext cx="609350" cy="609350"/>
          </a:xfrm>
          <a:prstGeom prst="rect">
            <a:avLst/>
          </a:prstGeom>
          <a:noFill/>
          <a:ln>
            <a:noFill/>
          </a:ln>
        </p:spPr>
      </p:pic>
      <p:pic>
        <p:nvPicPr>
          <p:cNvPr id="325" name="Google Shape;325;p18"/>
          <p:cNvPicPr preferRelativeResize="0"/>
          <p:nvPr/>
        </p:nvPicPr>
        <p:blipFill>
          <a:blip r:embed="rId5">
            <a:alphaModFix/>
          </a:blip>
          <a:stretch>
            <a:fillRect/>
          </a:stretch>
        </p:blipFill>
        <p:spPr>
          <a:xfrm>
            <a:off x="3895023" y="3370175"/>
            <a:ext cx="1353950" cy="135397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19"/>
          <p:cNvSpPr txBox="1"/>
          <p:nvPr>
            <p:ph type="title"/>
          </p:nvPr>
        </p:nvSpPr>
        <p:spPr>
          <a:xfrm>
            <a:off x="318550" y="80175"/>
            <a:ext cx="8652600" cy="54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420"/>
              <a:t>2. Análisis y Modelado de la solución:Diagrama de Flujo</a:t>
            </a:r>
            <a:endParaRPr sz="2420"/>
          </a:p>
        </p:txBody>
      </p:sp>
      <p:pic>
        <p:nvPicPr>
          <p:cNvPr id="331" name="Google Shape;331;p19"/>
          <p:cNvPicPr preferRelativeResize="0"/>
          <p:nvPr/>
        </p:nvPicPr>
        <p:blipFill>
          <a:blip r:embed="rId3">
            <a:alphaModFix/>
          </a:blip>
          <a:stretch>
            <a:fillRect/>
          </a:stretch>
        </p:blipFill>
        <p:spPr>
          <a:xfrm>
            <a:off x="318550" y="1460611"/>
            <a:ext cx="2146109" cy="3219164"/>
          </a:xfrm>
          <a:prstGeom prst="rect">
            <a:avLst/>
          </a:prstGeom>
          <a:noFill/>
          <a:ln>
            <a:noFill/>
          </a:ln>
        </p:spPr>
      </p:pic>
      <p:pic>
        <p:nvPicPr>
          <p:cNvPr id="332" name="Google Shape;332;p19"/>
          <p:cNvPicPr preferRelativeResize="0"/>
          <p:nvPr/>
        </p:nvPicPr>
        <p:blipFill>
          <a:blip r:embed="rId4">
            <a:alphaModFix/>
          </a:blip>
          <a:stretch>
            <a:fillRect/>
          </a:stretch>
        </p:blipFill>
        <p:spPr>
          <a:xfrm>
            <a:off x="2591848" y="837967"/>
            <a:ext cx="3591901" cy="2394624"/>
          </a:xfrm>
          <a:prstGeom prst="rect">
            <a:avLst/>
          </a:prstGeom>
          <a:noFill/>
          <a:ln>
            <a:noFill/>
          </a:ln>
        </p:spPr>
      </p:pic>
      <p:cxnSp>
        <p:nvCxnSpPr>
          <p:cNvPr id="333" name="Google Shape;333;p19"/>
          <p:cNvCxnSpPr/>
          <p:nvPr/>
        </p:nvCxnSpPr>
        <p:spPr>
          <a:xfrm flipH="1">
            <a:off x="1264533" y="4406658"/>
            <a:ext cx="6900" cy="260100"/>
          </a:xfrm>
          <a:prstGeom prst="straightConnector1">
            <a:avLst/>
          </a:prstGeom>
          <a:noFill/>
          <a:ln cap="flat" cmpd="sng" w="9525">
            <a:solidFill>
              <a:schemeClr val="dk2"/>
            </a:solidFill>
            <a:prstDash val="solid"/>
            <a:round/>
            <a:headEnd len="med" w="med" type="none"/>
            <a:tailEnd len="med" w="med" type="triangle"/>
          </a:ln>
        </p:spPr>
      </p:cxnSp>
      <p:pic>
        <p:nvPicPr>
          <p:cNvPr id="334" name="Google Shape;334;p19"/>
          <p:cNvPicPr preferRelativeResize="0"/>
          <p:nvPr/>
        </p:nvPicPr>
        <p:blipFill rotWithShape="1">
          <a:blip r:embed="rId5">
            <a:alphaModFix/>
          </a:blip>
          <a:srcRect b="0" l="0" r="0" t="6306"/>
          <a:stretch/>
        </p:blipFill>
        <p:spPr>
          <a:xfrm>
            <a:off x="2967078" y="3120768"/>
            <a:ext cx="2564874" cy="1898549"/>
          </a:xfrm>
          <a:prstGeom prst="rect">
            <a:avLst/>
          </a:prstGeom>
          <a:noFill/>
          <a:ln>
            <a:noFill/>
          </a:ln>
        </p:spPr>
      </p:pic>
      <p:pic>
        <p:nvPicPr>
          <p:cNvPr id="335" name="Google Shape;335;p19"/>
          <p:cNvPicPr preferRelativeResize="0"/>
          <p:nvPr/>
        </p:nvPicPr>
        <p:blipFill>
          <a:blip r:embed="rId6">
            <a:alphaModFix/>
          </a:blip>
          <a:stretch>
            <a:fillRect/>
          </a:stretch>
        </p:blipFill>
        <p:spPr>
          <a:xfrm>
            <a:off x="6183750" y="780175"/>
            <a:ext cx="2831800" cy="3698675"/>
          </a:xfrm>
          <a:prstGeom prst="rect">
            <a:avLst/>
          </a:prstGeom>
          <a:noFill/>
          <a:ln>
            <a:noFill/>
          </a:ln>
        </p:spPr>
      </p:pic>
      <p:cxnSp>
        <p:nvCxnSpPr>
          <p:cNvPr id="336" name="Google Shape;336;p19"/>
          <p:cNvCxnSpPr/>
          <p:nvPr/>
        </p:nvCxnSpPr>
        <p:spPr>
          <a:xfrm flipH="1">
            <a:off x="4060933" y="629176"/>
            <a:ext cx="6900" cy="260100"/>
          </a:xfrm>
          <a:prstGeom prst="straightConnector1">
            <a:avLst/>
          </a:prstGeom>
          <a:noFill/>
          <a:ln cap="flat" cmpd="sng" w="9525">
            <a:solidFill>
              <a:schemeClr val="dk2"/>
            </a:solidFill>
            <a:prstDash val="solid"/>
            <a:round/>
            <a:headEnd len="med" w="med" type="none"/>
            <a:tailEnd len="med" w="med" type="triangle"/>
          </a:ln>
        </p:spPr>
      </p:cxnSp>
      <p:cxnSp>
        <p:nvCxnSpPr>
          <p:cNvPr id="337" name="Google Shape;337;p19"/>
          <p:cNvCxnSpPr/>
          <p:nvPr/>
        </p:nvCxnSpPr>
        <p:spPr>
          <a:xfrm flipH="1">
            <a:off x="7550830" y="1085001"/>
            <a:ext cx="6900" cy="2601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20"/>
          <p:cNvSpPr txBox="1"/>
          <p:nvPr>
            <p:ph type="title"/>
          </p:nvPr>
        </p:nvSpPr>
        <p:spPr>
          <a:xfrm>
            <a:off x="217425" y="86700"/>
            <a:ext cx="9144000" cy="549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2. Análisis y Modelado de la solución:Subrutinas y C.I.</a:t>
            </a:r>
            <a:endParaRPr/>
          </a:p>
        </p:txBody>
      </p:sp>
      <p:pic>
        <p:nvPicPr>
          <p:cNvPr id="343" name="Google Shape;343;p20"/>
          <p:cNvPicPr preferRelativeResize="0"/>
          <p:nvPr/>
        </p:nvPicPr>
        <p:blipFill rotWithShape="1">
          <a:blip r:embed="rId3">
            <a:alphaModFix/>
          </a:blip>
          <a:srcRect b="6052" l="29481" r="27655" t="11725"/>
          <a:stretch/>
        </p:blipFill>
        <p:spPr>
          <a:xfrm>
            <a:off x="217425" y="1414250"/>
            <a:ext cx="2698524" cy="3447525"/>
          </a:xfrm>
          <a:prstGeom prst="rect">
            <a:avLst/>
          </a:prstGeom>
          <a:noFill/>
          <a:ln>
            <a:noFill/>
          </a:ln>
        </p:spPr>
      </p:pic>
      <p:pic>
        <p:nvPicPr>
          <p:cNvPr id="344" name="Google Shape;344;p20"/>
          <p:cNvPicPr preferRelativeResize="0"/>
          <p:nvPr/>
        </p:nvPicPr>
        <p:blipFill rotWithShape="1">
          <a:blip r:embed="rId4">
            <a:alphaModFix/>
          </a:blip>
          <a:srcRect b="49486" l="0" r="61899" t="20608"/>
          <a:stretch/>
        </p:blipFill>
        <p:spPr>
          <a:xfrm>
            <a:off x="3106325" y="2791300"/>
            <a:ext cx="1928100" cy="1849326"/>
          </a:xfrm>
          <a:prstGeom prst="rect">
            <a:avLst/>
          </a:prstGeom>
          <a:noFill/>
          <a:ln>
            <a:noFill/>
          </a:ln>
        </p:spPr>
      </p:pic>
      <p:pic>
        <p:nvPicPr>
          <p:cNvPr id="345" name="Google Shape;345;p20"/>
          <p:cNvPicPr preferRelativeResize="0"/>
          <p:nvPr/>
        </p:nvPicPr>
        <p:blipFill>
          <a:blip r:embed="rId5">
            <a:alphaModFix/>
          </a:blip>
          <a:stretch>
            <a:fillRect/>
          </a:stretch>
        </p:blipFill>
        <p:spPr>
          <a:xfrm>
            <a:off x="5622925" y="785775"/>
            <a:ext cx="3124667" cy="4075999"/>
          </a:xfrm>
          <a:prstGeom prst="rect">
            <a:avLst/>
          </a:prstGeom>
          <a:noFill/>
          <a:ln>
            <a:noFill/>
          </a:ln>
        </p:spPr>
      </p:pic>
      <p:pic>
        <p:nvPicPr>
          <p:cNvPr id="346" name="Google Shape;346;p20"/>
          <p:cNvPicPr preferRelativeResize="0"/>
          <p:nvPr/>
        </p:nvPicPr>
        <p:blipFill rotWithShape="1">
          <a:blip r:embed="rId4">
            <a:alphaModFix/>
          </a:blip>
          <a:srcRect b="49486" l="57815" r="0" t="20608"/>
          <a:stretch/>
        </p:blipFill>
        <p:spPr>
          <a:xfrm>
            <a:off x="3106325" y="735200"/>
            <a:ext cx="2134751" cy="18493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21"/>
          <p:cNvSpPr txBox="1"/>
          <p:nvPr>
            <p:ph type="title"/>
          </p:nvPr>
        </p:nvSpPr>
        <p:spPr>
          <a:xfrm>
            <a:off x="627450" y="1999774"/>
            <a:ext cx="7889100" cy="170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sz="3600"/>
              <a:t>Codificación </a:t>
            </a:r>
            <a:r>
              <a:rPr lang="es" sz="3600"/>
              <a:t>de la solución</a:t>
            </a:r>
            <a:endParaRPr sz="3600"/>
          </a:p>
        </p:txBody>
      </p:sp>
      <p:sp>
        <p:nvSpPr>
          <p:cNvPr id="352" name="Google Shape;352;p21"/>
          <p:cNvSpPr/>
          <p:nvPr/>
        </p:nvSpPr>
        <p:spPr>
          <a:xfrm>
            <a:off x="4075050" y="807612"/>
            <a:ext cx="993900" cy="969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6000">
                <a:latin typeface="Comfortaa"/>
                <a:ea typeface="Comfortaa"/>
                <a:cs typeface="Comfortaa"/>
                <a:sym typeface="Comfortaa"/>
              </a:rPr>
              <a:t>3</a:t>
            </a:r>
            <a:endParaRPr sz="6000">
              <a:latin typeface="Comfortaa"/>
              <a:ea typeface="Comfortaa"/>
              <a:cs typeface="Comfortaa"/>
              <a:sym typeface="Comfortaa"/>
            </a:endParaRPr>
          </a:p>
        </p:txBody>
      </p:sp>
      <p:pic>
        <p:nvPicPr>
          <p:cNvPr id="353" name="Google Shape;353;p21"/>
          <p:cNvPicPr preferRelativeResize="0"/>
          <p:nvPr/>
        </p:nvPicPr>
        <p:blipFill>
          <a:blip r:embed="rId3">
            <a:alphaModFix/>
          </a:blip>
          <a:stretch>
            <a:fillRect/>
          </a:stretch>
        </p:blipFill>
        <p:spPr>
          <a:xfrm>
            <a:off x="152400" y="171450"/>
            <a:ext cx="1714024" cy="1714024"/>
          </a:xfrm>
          <a:prstGeom prst="rect">
            <a:avLst/>
          </a:prstGeom>
          <a:noFill/>
          <a:ln>
            <a:noFill/>
          </a:ln>
        </p:spPr>
      </p:pic>
      <p:pic>
        <p:nvPicPr>
          <p:cNvPr id="354" name="Google Shape;354;p21"/>
          <p:cNvPicPr preferRelativeResize="0"/>
          <p:nvPr/>
        </p:nvPicPr>
        <p:blipFill>
          <a:blip r:embed="rId4">
            <a:alphaModFix/>
          </a:blip>
          <a:stretch>
            <a:fillRect/>
          </a:stretch>
        </p:blipFill>
        <p:spPr>
          <a:xfrm>
            <a:off x="1347100" y="388700"/>
            <a:ext cx="609350" cy="609350"/>
          </a:xfrm>
          <a:prstGeom prst="rect">
            <a:avLst/>
          </a:prstGeom>
          <a:noFill/>
          <a:ln>
            <a:noFill/>
          </a:ln>
        </p:spPr>
      </p:pic>
      <p:pic>
        <p:nvPicPr>
          <p:cNvPr id="355" name="Google Shape;355;p21"/>
          <p:cNvPicPr preferRelativeResize="0"/>
          <p:nvPr/>
        </p:nvPicPr>
        <p:blipFill>
          <a:blip r:embed="rId5">
            <a:alphaModFix/>
          </a:blip>
          <a:stretch>
            <a:fillRect/>
          </a:stretch>
        </p:blipFill>
        <p:spPr>
          <a:xfrm>
            <a:off x="4047520" y="3013675"/>
            <a:ext cx="1048950" cy="1048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22"/>
          <p:cNvSpPr txBox="1"/>
          <p:nvPr>
            <p:ph type="title"/>
          </p:nvPr>
        </p:nvSpPr>
        <p:spPr>
          <a:xfrm>
            <a:off x="1181013" y="636750"/>
            <a:ext cx="7030500" cy="642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3. Codificación de la </a:t>
            </a:r>
            <a:r>
              <a:rPr lang="es"/>
              <a:t>solución</a:t>
            </a:r>
            <a:endParaRPr/>
          </a:p>
        </p:txBody>
      </p:sp>
      <p:pic>
        <p:nvPicPr>
          <p:cNvPr id="361" name="Google Shape;361;p22"/>
          <p:cNvPicPr preferRelativeResize="0"/>
          <p:nvPr/>
        </p:nvPicPr>
        <p:blipFill>
          <a:blip r:embed="rId3">
            <a:alphaModFix/>
          </a:blip>
          <a:stretch>
            <a:fillRect/>
          </a:stretch>
        </p:blipFill>
        <p:spPr>
          <a:xfrm>
            <a:off x="281838" y="1468100"/>
            <a:ext cx="8580333" cy="32408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23"/>
          <p:cNvSpPr txBox="1"/>
          <p:nvPr>
            <p:ph type="title"/>
          </p:nvPr>
        </p:nvSpPr>
        <p:spPr>
          <a:xfrm>
            <a:off x="627450" y="1974926"/>
            <a:ext cx="7889100" cy="170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sz="3600"/>
              <a:t>Armado de Dataset y funciones de probabilidad</a:t>
            </a:r>
            <a:endParaRPr sz="3600"/>
          </a:p>
        </p:txBody>
      </p:sp>
      <p:sp>
        <p:nvSpPr>
          <p:cNvPr id="367" name="Google Shape;367;p23"/>
          <p:cNvSpPr/>
          <p:nvPr/>
        </p:nvSpPr>
        <p:spPr>
          <a:xfrm>
            <a:off x="4075050" y="807612"/>
            <a:ext cx="993900" cy="969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6000">
                <a:latin typeface="Comfortaa"/>
                <a:ea typeface="Comfortaa"/>
                <a:cs typeface="Comfortaa"/>
                <a:sym typeface="Comfortaa"/>
              </a:rPr>
              <a:t>4</a:t>
            </a:r>
            <a:endParaRPr sz="6000">
              <a:latin typeface="Comfortaa"/>
              <a:ea typeface="Comfortaa"/>
              <a:cs typeface="Comfortaa"/>
              <a:sym typeface="Comfortaa"/>
            </a:endParaRPr>
          </a:p>
        </p:txBody>
      </p:sp>
      <p:pic>
        <p:nvPicPr>
          <p:cNvPr id="368" name="Google Shape;368;p23"/>
          <p:cNvPicPr preferRelativeResize="0"/>
          <p:nvPr/>
        </p:nvPicPr>
        <p:blipFill>
          <a:blip r:embed="rId3">
            <a:alphaModFix/>
          </a:blip>
          <a:stretch>
            <a:fillRect/>
          </a:stretch>
        </p:blipFill>
        <p:spPr>
          <a:xfrm>
            <a:off x="152400" y="171450"/>
            <a:ext cx="1714024" cy="1714024"/>
          </a:xfrm>
          <a:prstGeom prst="rect">
            <a:avLst/>
          </a:prstGeom>
          <a:noFill/>
          <a:ln>
            <a:noFill/>
          </a:ln>
        </p:spPr>
      </p:pic>
      <p:pic>
        <p:nvPicPr>
          <p:cNvPr id="369" name="Google Shape;369;p23"/>
          <p:cNvPicPr preferRelativeResize="0"/>
          <p:nvPr/>
        </p:nvPicPr>
        <p:blipFill>
          <a:blip r:embed="rId4">
            <a:alphaModFix/>
          </a:blip>
          <a:stretch>
            <a:fillRect/>
          </a:stretch>
        </p:blipFill>
        <p:spPr>
          <a:xfrm>
            <a:off x="1347100" y="388700"/>
            <a:ext cx="609350" cy="609350"/>
          </a:xfrm>
          <a:prstGeom prst="rect">
            <a:avLst/>
          </a:prstGeom>
          <a:noFill/>
          <a:ln>
            <a:noFill/>
          </a:ln>
        </p:spPr>
      </p:pic>
      <p:pic>
        <p:nvPicPr>
          <p:cNvPr id="370" name="Google Shape;370;p23"/>
          <p:cNvPicPr preferRelativeResize="0"/>
          <p:nvPr/>
        </p:nvPicPr>
        <p:blipFill>
          <a:blip r:embed="rId5">
            <a:alphaModFix/>
          </a:blip>
          <a:stretch>
            <a:fillRect/>
          </a:stretch>
        </p:blipFill>
        <p:spPr>
          <a:xfrm>
            <a:off x="4184225" y="3442175"/>
            <a:ext cx="775550" cy="8440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24"/>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4.1 Armado de dataset con datos obtenidos por terceros</a:t>
            </a:r>
            <a:endParaRPr/>
          </a:p>
        </p:txBody>
      </p:sp>
      <p:pic>
        <p:nvPicPr>
          <p:cNvPr id="376" name="Google Shape;376;p24"/>
          <p:cNvPicPr preferRelativeResize="0"/>
          <p:nvPr/>
        </p:nvPicPr>
        <p:blipFill>
          <a:blip r:embed="rId3">
            <a:alphaModFix/>
          </a:blip>
          <a:stretch>
            <a:fillRect/>
          </a:stretch>
        </p:blipFill>
        <p:spPr>
          <a:xfrm>
            <a:off x="145500" y="1733950"/>
            <a:ext cx="8853001" cy="29691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2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4.2 Uso de Google Colab</a:t>
            </a:r>
            <a:endParaRPr/>
          </a:p>
        </p:txBody>
      </p:sp>
      <p:pic>
        <p:nvPicPr>
          <p:cNvPr id="382" name="Google Shape;382;p25"/>
          <p:cNvPicPr preferRelativeResize="0"/>
          <p:nvPr/>
        </p:nvPicPr>
        <p:blipFill>
          <a:blip r:embed="rId3">
            <a:alphaModFix/>
          </a:blip>
          <a:stretch>
            <a:fillRect/>
          </a:stretch>
        </p:blipFill>
        <p:spPr>
          <a:xfrm>
            <a:off x="-128267" y="1967014"/>
            <a:ext cx="3172249" cy="1285885"/>
          </a:xfrm>
          <a:prstGeom prst="rect">
            <a:avLst/>
          </a:prstGeom>
          <a:noFill/>
          <a:ln>
            <a:noFill/>
          </a:ln>
        </p:spPr>
      </p:pic>
      <p:sp>
        <p:nvSpPr>
          <p:cNvPr id="383" name="Google Shape;383;p25"/>
          <p:cNvSpPr txBox="1"/>
          <p:nvPr>
            <p:ph type="title"/>
          </p:nvPr>
        </p:nvSpPr>
        <p:spPr>
          <a:xfrm>
            <a:off x="291926" y="1738700"/>
            <a:ext cx="2331900" cy="43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120" u="sng"/>
              <a:t>1- </a:t>
            </a:r>
            <a:r>
              <a:rPr lang="es" sz="1120" u="sng"/>
              <a:t>Importación de bibliotecas</a:t>
            </a:r>
            <a:endParaRPr sz="1120" u="sng"/>
          </a:p>
        </p:txBody>
      </p:sp>
      <p:pic>
        <p:nvPicPr>
          <p:cNvPr id="384" name="Google Shape;384;p25"/>
          <p:cNvPicPr preferRelativeResize="0"/>
          <p:nvPr/>
        </p:nvPicPr>
        <p:blipFill rotWithShape="1">
          <a:blip r:embed="rId4">
            <a:alphaModFix/>
          </a:blip>
          <a:srcRect b="2831" l="2855" r="29491" t="14878"/>
          <a:stretch/>
        </p:blipFill>
        <p:spPr>
          <a:xfrm>
            <a:off x="190875" y="3728400"/>
            <a:ext cx="4790149" cy="588325"/>
          </a:xfrm>
          <a:prstGeom prst="rect">
            <a:avLst/>
          </a:prstGeom>
          <a:noFill/>
          <a:ln>
            <a:noFill/>
          </a:ln>
        </p:spPr>
      </p:pic>
      <p:sp>
        <p:nvSpPr>
          <p:cNvPr id="385" name="Google Shape;385;p25"/>
          <p:cNvSpPr txBox="1"/>
          <p:nvPr>
            <p:ph type="title"/>
          </p:nvPr>
        </p:nvSpPr>
        <p:spPr>
          <a:xfrm>
            <a:off x="296750" y="3393725"/>
            <a:ext cx="3003900" cy="43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120" u="sng"/>
              <a:t>2</a:t>
            </a:r>
            <a:r>
              <a:rPr lang="es" sz="1120" u="sng"/>
              <a:t>- Carga de datos a partir del Dataset</a:t>
            </a:r>
            <a:endParaRPr sz="1120" u="sng"/>
          </a:p>
        </p:txBody>
      </p:sp>
      <p:sp>
        <p:nvSpPr>
          <p:cNvPr id="386" name="Google Shape;386;p25"/>
          <p:cNvSpPr txBox="1"/>
          <p:nvPr>
            <p:ph type="title"/>
          </p:nvPr>
        </p:nvSpPr>
        <p:spPr>
          <a:xfrm>
            <a:off x="5373274" y="1475625"/>
            <a:ext cx="3469200" cy="49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720" u="sng"/>
              <a:t>4</a:t>
            </a:r>
            <a:r>
              <a:rPr lang="es" sz="1720" u="sng"/>
              <a:t>- Ajuste de lo datos con Fitter</a:t>
            </a:r>
            <a:endParaRPr sz="1720" u="sng"/>
          </a:p>
        </p:txBody>
      </p:sp>
      <p:pic>
        <p:nvPicPr>
          <p:cNvPr id="387" name="Google Shape;387;p25"/>
          <p:cNvPicPr preferRelativeResize="0"/>
          <p:nvPr/>
        </p:nvPicPr>
        <p:blipFill>
          <a:blip r:embed="rId5">
            <a:alphaModFix/>
          </a:blip>
          <a:stretch>
            <a:fillRect/>
          </a:stretch>
        </p:blipFill>
        <p:spPr>
          <a:xfrm>
            <a:off x="5206100" y="1967025"/>
            <a:ext cx="3803551" cy="2800225"/>
          </a:xfrm>
          <a:prstGeom prst="rect">
            <a:avLst/>
          </a:prstGeom>
          <a:noFill/>
          <a:ln>
            <a:noFill/>
          </a:ln>
        </p:spPr>
      </p:pic>
      <p:cxnSp>
        <p:nvCxnSpPr>
          <p:cNvPr id="388" name="Google Shape;388;p25"/>
          <p:cNvCxnSpPr/>
          <p:nvPr/>
        </p:nvCxnSpPr>
        <p:spPr>
          <a:xfrm>
            <a:off x="594300" y="4384100"/>
            <a:ext cx="487500" cy="243600"/>
          </a:xfrm>
          <a:prstGeom prst="straightConnector1">
            <a:avLst/>
          </a:prstGeom>
          <a:noFill/>
          <a:ln cap="flat" cmpd="sng" w="38100">
            <a:solidFill>
              <a:schemeClr val="dk2"/>
            </a:solidFill>
            <a:prstDash val="solid"/>
            <a:round/>
            <a:headEnd len="med" w="med" type="none"/>
            <a:tailEnd len="med" w="med" type="triangle"/>
          </a:ln>
        </p:spPr>
      </p:cxnSp>
      <p:sp>
        <p:nvSpPr>
          <p:cNvPr id="389" name="Google Shape;389;p25"/>
          <p:cNvSpPr txBox="1"/>
          <p:nvPr>
            <p:ph type="title"/>
          </p:nvPr>
        </p:nvSpPr>
        <p:spPr>
          <a:xfrm>
            <a:off x="1081800" y="4508150"/>
            <a:ext cx="2550000" cy="43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120" u="sng"/>
              <a:t>3</a:t>
            </a:r>
            <a:r>
              <a:rPr lang="es" sz="1120" u="sng"/>
              <a:t>- Limpieza o filtrado de los datos</a:t>
            </a:r>
            <a:endParaRPr sz="1120" u="sng"/>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26"/>
          <p:cNvSpPr txBox="1"/>
          <p:nvPr>
            <p:ph type="title"/>
          </p:nvPr>
        </p:nvSpPr>
        <p:spPr>
          <a:xfrm>
            <a:off x="1303800" y="444650"/>
            <a:ext cx="7435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4.3 Creación de fdp: TA (Tiempo de Atención)</a:t>
            </a:r>
            <a:endParaRPr/>
          </a:p>
        </p:txBody>
      </p:sp>
      <p:sp>
        <p:nvSpPr>
          <p:cNvPr id="395" name="Google Shape;395;p26"/>
          <p:cNvSpPr txBox="1"/>
          <p:nvPr>
            <p:ph idx="1" type="body"/>
          </p:nvPr>
        </p:nvSpPr>
        <p:spPr>
          <a:xfrm>
            <a:off x="1393050" y="1127300"/>
            <a:ext cx="6357900" cy="621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Se opta por una distribución uniforme entre 30 y 60 minutos debido a la dispersión relativamente homogénea de los datos y la simplicidad del modelo. </a:t>
            </a:r>
            <a:endParaRPr/>
          </a:p>
        </p:txBody>
      </p:sp>
      <p:pic>
        <p:nvPicPr>
          <p:cNvPr id="396" name="Google Shape;396;p26"/>
          <p:cNvPicPr preferRelativeResize="0"/>
          <p:nvPr/>
        </p:nvPicPr>
        <p:blipFill>
          <a:blip r:embed="rId3">
            <a:alphaModFix/>
          </a:blip>
          <a:stretch>
            <a:fillRect/>
          </a:stretch>
        </p:blipFill>
        <p:spPr>
          <a:xfrm>
            <a:off x="2343675" y="1748600"/>
            <a:ext cx="4456651" cy="33424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pic>
        <p:nvPicPr>
          <p:cNvPr id="401" name="Google Shape;401;p27"/>
          <p:cNvPicPr preferRelativeResize="0"/>
          <p:nvPr/>
        </p:nvPicPr>
        <p:blipFill rotWithShape="1">
          <a:blip r:embed="rId3">
            <a:alphaModFix/>
          </a:blip>
          <a:srcRect b="47542" l="0" r="0" t="0"/>
          <a:stretch/>
        </p:blipFill>
        <p:spPr>
          <a:xfrm>
            <a:off x="309075" y="1546575"/>
            <a:ext cx="8525850" cy="3195024"/>
          </a:xfrm>
          <a:prstGeom prst="rect">
            <a:avLst/>
          </a:prstGeom>
          <a:noFill/>
          <a:ln>
            <a:noFill/>
          </a:ln>
        </p:spPr>
      </p:pic>
      <p:sp>
        <p:nvSpPr>
          <p:cNvPr id="402" name="Google Shape;402;p27"/>
          <p:cNvSpPr txBox="1"/>
          <p:nvPr>
            <p:ph type="title"/>
          </p:nvPr>
        </p:nvSpPr>
        <p:spPr>
          <a:xfrm>
            <a:off x="1303800" y="444650"/>
            <a:ext cx="7435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4.3 Creación de fdp: TA (Tiempo de Atención)</a:t>
            </a:r>
            <a:endParaRPr/>
          </a:p>
          <a:p>
            <a:pPr indent="0" lvl="0" marL="0" rtl="0" algn="l">
              <a:spcBef>
                <a:spcPts val="0"/>
              </a:spcBef>
              <a:spcAft>
                <a:spcPts val="0"/>
              </a:spcAft>
              <a:buNone/>
            </a:pPr>
            <a:r>
              <a:rPr lang="es"/>
              <a:t>Comparación entre Simulación y Original</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28"/>
          <p:cNvSpPr txBox="1"/>
          <p:nvPr>
            <p:ph type="title"/>
          </p:nvPr>
        </p:nvSpPr>
        <p:spPr>
          <a:xfrm>
            <a:off x="1303800" y="662700"/>
            <a:ext cx="7512300" cy="615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4.3 Creación de fdp: IA (Intervalo entre Arribos)</a:t>
            </a:r>
            <a:endParaRPr/>
          </a:p>
          <a:p>
            <a:pPr indent="0" lvl="0" marL="0" rtl="0" algn="l">
              <a:spcBef>
                <a:spcPts val="0"/>
              </a:spcBef>
              <a:spcAft>
                <a:spcPts val="0"/>
              </a:spcAft>
              <a:buNone/>
            </a:pPr>
            <a:r>
              <a:t/>
            </a:r>
            <a:endParaRPr/>
          </a:p>
        </p:txBody>
      </p:sp>
      <p:pic>
        <p:nvPicPr>
          <p:cNvPr id="408" name="Google Shape;408;p28"/>
          <p:cNvPicPr preferRelativeResize="0"/>
          <p:nvPr/>
        </p:nvPicPr>
        <p:blipFill>
          <a:blip r:embed="rId3">
            <a:alphaModFix/>
          </a:blip>
          <a:stretch>
            <a:fillRect/>
          </a:stretch>
        </p:blipFill>
        <p:spPr>
          <a:xfrm>
            <a:off x="2198400" y="1278300"/>
            <a:ext cx="4747200" cy="3560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29"/>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Se selecciona una distribución lognormal debido a su capacidad para modelar variables positivas con asimetría a la derecha, lo cual se observa en los datos. </a:t>
            </a:r>
            <a:endParaRPr/>
          </a:p>
        </p:txBody>
      </p:sp>
      <p:pic>
        <p:nvPicPr>
          <p:cNvPr id="414" name="Google Shape;414;p29"/>
          <p:cNvPicPr preferRelativeResize="0"/>
          <p:nvPr/>
        </p:nvPicPr>
        <p:blipFill rotWithShape="1">
          <a:blip r:embed="rId3">
            <a:alphaModFix/>
          </a:blip>
          <a:srcRect b="0" l="0" r="0" t="51985"/>
          <a:stretch/>
        </p:blipFill>
        <p:spPr>
          <a:xfrm>
            <a:off x="166038" y="1663200"/>
            <a:ext cx="8811930" cy="3022375"/>
          </a:xfrm>
          <a:prstGeom prst="rect">
            <a:avLst/>
          </a:prstGeom>
          <a:noFill/>
          <a:ln>
            <a:noFill/>
          </a:ln>
        </p:spPr>
      </p:pic>
      <p:sp>
        <p:nvSpPr>
          <p:cNvPr id="415" name="Google Shape;415;p29"/>
          <p:cNvSpPr txBox="1"/>
          <p:nvPr>
            <p:ph type="title"/>
          </p:nvPr>
        </p:nvSpPr>
        <p:spPr>
          <a:xfrm>
            <a:off x="1303800" y="444650"/>
            <a:ext cx="7512300" cy="910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4.3 Creación de fdp: IA (Intervalo entre Arribos)</a:t>
            </a:r>
            <a:endParaRPr/>
          </a:p>
          <a:p>
            <a:pPr indent="0" lvl="0" marL="0" rtl="0" algn="l">
              <a:spcBef>
                <a:spcPts val="0"/>
              </a:spcBef>
              <a:spcAft>
                <a:spcPts val="0"/>
              </a:spcAft>
              <a:buNone/>
            </a:pPr>
            <a:r>
              <a:rPr lang="es"/>
              <a:t>Comparación entre Simulación y Original</a:t>
            </a:r>
            <a:endParaRPr/>
          </a:p>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30"/>
          <p:cNvSpPr txBox="1"/>
          <p:nvPr>
            <p:ph type="title"/>
          </p:nvPr>
        </p:nvSpPr>
        <p:spPr>
          <a:xfrm>
            <a:off x="627450" y="2372551"/>
            <a:ext cx="7889100" cy="170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sz="3600"/>
              <a:t>Resultados de la </a:t>
            </a:r>
            <a:r>
              <a:rPr lang="es" sz="3600"/>
              <a:t>Simulación</a:t>
            </a:r>
            <a:endParaRPr sz="3600"/>
          </a:p>
        </p:txBody>
      </p:sp>
      <p:sp>
        <p:nvSpPr>
          <p:cNvPr id="421" name="Google Shape;421;p30"/>
          <p:cNvSpPr/>
          <p:nvPr/>
        </p:nvSpPr>
        <p:spPr>
          <a:xfrm>
            <a:off x="4075050" y="1218062"/>
            <a:ext cx="993900" cy="969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sz="6000">
                <a:latin typeface="Comfortaa"/>
                <a:ea typeface="Comfortaa"/>
                <a:cs typeface="Comfortaa"/>
                <a:sym typeface="Comfortaa"/>
              </a:rPr>
              <a:t>5</a:t>
            </a:r>
            <a:endParaRPr sz="6000">
              <a:latin typeface="Comfortaa"/>
              <a:ea typeface="Comfortaa"/>
              <a:cs typeface="Comfortaa"/>
              <a:sym typeface="Comfortaa"/>
            </a:endParaRPr>
          </a:p>
        </p:txBody>
      </p:sp>
      <p:pic>
        <p:nvPicPr>
          <p:cNvPr id="422" name="Google Shape;422;p30"/>
          <p:cNvPicPr preferRelativeResize="0"/>
          <p:nvPr/>
        </p:nvPicPr>
        <p:blipFill>
          <a:blip r:embed="rId3">
            <a:alphaModFix/>
          </a:blip>
          <a:stretch>
            <a:fillRect/>
          </a:stretch>
        </p:blipFill>
        <p:spPr>
          <a:xfrm>
            <a:off x="152400" y="171450"/>
            <a:ext cx="1714024" cy="1714024"/>
          </a:xfrm>
          <a:prstGeom prst="rect">
            <a:avLst/>
          </a:prstGeom>
          <a:noFill/>
          <a:ln>
            <a:noFill/>
          </a:ln>
        </p:spPr>
      </p:pic>
      <p:pic>
        <p:nvPicPr>
          <p:cNvPr id="423" name="Google Shape;423;p30"/>
          <p:cNvPicPr preferRelativeResize="0"/>
          <p:nvPr/>
        </p:nvPicPr>
        <p:blipFill>
          <a:blip r:embed="rId4">
            <a:alphaModFix/>
          </a:blip>
          <a:stretch>
            <a:fillRect/>
          </a:stretch>
        </p:blipFill>
        <p:spPr>
          <a:xfrm>
            <a:off x="1347100" y="388700"/>
            <a:ext cx="609350" cy="6093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31"/>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5. Resultados de la Simulación: </a:t>
            </a:r>
            <a:endParaRPr/>
          </a:p>
          <a:p>
            <a:pPr indent="0" lvl="0" marL="0" rtl="0" algn="l">
              <a:spcBef>
                <a:spcPts val="0"/>
              </a:spcBef>
              <a:spcAft>
                <a:spcPts val="0"/>
              </a:spcAft>
              <a:buNone/>
            </a:pPr>
            <a:r>
              <a:rPr lang="es"/>
              <a:t>Escenario Real</a:t>
            </a:r>
            <a:endParaRPr/>
          </a:p>
        </p:txBody>
      </p:sp>
      <p:pic>
        <p:nvPicPr>
          <p:cNvPr id="429" name="Google Shape;429;p31"/>
          <p:cNvPicPr preferRelativeResize="0"/>
          <p:nvPr/>
        </p:nvPicPr>
        <p:blipFill rotWithShape="1">
          <a:blip r:embed="rId3">
            <a:alphaModFix/>
          </a:blip>
          <a:srcRect b="0" l="0" r="14647" t="0"/>
          <a:stretch/>
        </p:blipFill>
        <p:spPr>
          <a:xfrm>
            <a:off x="2368413" y="1597875"/>
            <a:ext cx="4407175" cy="32408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32"/>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5. Resultados de la Simulación: </a:t>
            </a:r>
            <a:endParaRPr/>
          </a:p>
          <a:p>
            <a:pPr indent="0" lvl="0" marL="0" rtl="0" algn="l">
              <a:spcBef>
                <a:spcPts val="0"/>
              </a:spcBef>
              <a:spcAft>
                <a:spcPts val="0"/>
              </a:spcAft>
              <a:buNone/>
            </a:pPr>
            <a:r>
              <a:rPr lang="es"/>
              <a:t>Escenario Eficiente</a:t>
            </a:r>
            <a:endParaRPr/>
          </a:p>
        </p:txBody>
      </p:sp>
      <p:pic>
        <p:nvPicPr>
          <p:cNvPr id="435" name="Google Shape;435;p32"/>
          <p:cNvPicPr preferRelativeResize="0"/>
          <p:nvPr/>
        </p:nvPicPr>
        <p:blipFill>
          <a:blip r:embed="rId3">
            <a:alphaModFix/>
          </a:blip>
          <a:stretch>
            <a:fillRect/>
          </a:stretch>
        </p:blipFill>
        <p:spPr>
          <a:xfrm>
            <a:off x="2102950" y="1526650"/>
            <a:ext cx="5536803" cy="32408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33"/>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5. Resultados de la Simulación: </a:t>
            </a:r>
            <a:endParaRPr/>
          </a:p>
          <a:p>
            <a:pPr indent="0" lvl="0" marL="0" rtl="0" algn="l">
              <a:spcBef>
                <a:spcPts val="0"/>
              </a:spcBef>
              <a:spcAft>
                <a:spcPts val="0"/>
              </a:spcAft>
              <a:buNone/>
            </a:pPr>
            <a:r>
              <a:rPr lang="es"/>
              <a:t>Escenario No Eficiente</a:t>
            </a:r>
            <a:endParaRPr/>
          </a:p>
        </p:txBody>
      </p:sp>
      <p:pic>
        <p:nvPicPr>
          <p:cNvPr id="441" name="Google Shape;441;p33"/>
          <p:cNvPicPr preferRelativeResize="0"/>
          <p:nvPr/>
        </p:nvPicPr>
        <p:blipFill rotWithShape="1">
          <a:blip r:embed="rId3">
            <a:alphaModFix/>
          </a:blip>
          <a:srcRect b="0" l="0" r="9157" t="0"/>
          <a:stretch/>
        </p:blipFill>
        <p:spPr>
          <a:xfrm>
            <a:off x="1283800" y="1597875"/>
            <a:ext cx="6576400" cy="30956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pic>
        <p:nvPicPr>
          <p:cNvPr id="446" name="Google Shape;446;p34"/>
          <p:cNvPicPr preferRelativeResize="0"/>
          <p:nvPr/>
        </p:nvPicPr>
        <p:blipFill rotWithShape="1">
          <a:blip r:embed="rId3">
            <a:alphaModFix amt="10000"/>
          </a:blip>
          <a:srcRect b="11793" l="0" r="45593" t="0"/>
          <a:stretch/>
        </p:blipFill>
        <p:spPr>
          <a:xfrm>
            <a:off x="-264125" y="119075"/>
            <a:ext cx="9408125" cy="5024425"/>
          </a:xfrm>
          <a:prstGeom prst="rect">
            <a:avLst/>
          </a:prstGeom>
          <a:noFill/>
          <a:ln>
            <a:noFill/>
          </a:ln>
        </p:spPr>
      </p:pic>
      <p:sp>
        <p:nvSpPr>
          <p:cNvPr id="447" name="Google Shape;447;p34"/>
          <p:cNvSpPr txBox="1"/>
          <p:nvPr>
            <p:ph type="title"/>
          </p:nvPr>
        </p:nvSpPr>
        <p:spPr>
          <a:xfrm>
            <a:off x="1303800" y="2072100"/>
            <a:ext cx="7030500" cy="999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sz="4800"/>
              <a:t>CONCLUSIÓN</a:t>
            </a:r>
            <a:endParaRPr sz="4800"/>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